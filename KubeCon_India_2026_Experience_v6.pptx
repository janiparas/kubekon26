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1B99588-3055-4374-9ACA-AE0496AD7EE1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A58EF0-BFFB-4A58-9655-0484B1FB50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F5AE51-6AFC-4D37-BB44-8DD577CB78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608D38-53C4-4605-8BCD-772F943233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6D48D4-B3E7-4D82-96F7-0347A4D7DD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0242608-3BC7-423F-A23C-5D39BDD401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E0929D-6BB8-44B4-BE82-CEEC2143DC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D588799-46F9-4B31-9FF0-E8B5F9F4F4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B9F6C9-2AE0-41B0-B3E6-DA4B0AA06E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A4AA134-3C93-4982-8D15-15BAAD589D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AD79DD2-B210-45DB-B3B0-F826567240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EDB49C-3858-4B0E-8403-0DE1213624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EF2557-BBF8-488F-BF24-10B1EDFE93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CE5D1C-366B-4D02-BCD0-0454603F15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96164C-908B-4C21-8C62-8C5CC16AB0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EB527C-CCEC-4D80-B544-8D295F0912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CAF708-E12C-430D-A1E8-A9098AD0E1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386D3D8-9E13-4083-AD85-2836F12D7E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/>
          <p:nvPr/>
        </p:nvSpPr>
        <p:spPr>
          <a:xfrm>
            <a:off x="584280" y="6105960"/>
            <a:ext cx="723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uk-UA" sz="1060" b="1" u="none" strike="noStrike">
              <a:solidFill>
                <a:schemeClr val="accent2"/>
              </a:solidFill>
              <a:effectLst/>
              <a:uFillTx/>
              <a:latin typeface="Calibri"/>
            </a:endParaRPr>
          </a:p>
        </p:txBody>
      </p:sp>
      <p:sp>
        <p:nvSpPr>
          <p:cNvPr id="5" name="Freeform: Shape 7"/>
          <p:cNvSpPr/>
          <p:nvPr/>
        </p:nvSpPr>
        <p:spPr>
          <a:xfrm>
            <a:off x="601560" y="6402240"/>
            <a:ext cx="1200600" cy="153360"/>
          </a:xfrm>
          <a:custGeom>
            <a:avLst/>
            <a:gdLst>
              <a:gd name="textAreaLeft" fmla="*/ 0 w 1200600"/>
              <a:gd name="textAreaRight" fmla="*/ 1201320 w 1200600"/>
              <a:gd name="textAreaTop" fmla="*/ 0 h 153360"/>
              <a:gd name="textAreaBottom" fmla="*/ 154080 h 153360"/>
              <a:gd name="GluePoint1X" fmla="*/ 2017634 w 2297876"/>
              <a:gd name="GluePoint1Y" fmla="*/ 86119 h 294930"/>
              <a:gd name="GluePoint2X" fmla="*/ 2017634 w 2297876"/>
              <a:gd name="GluePoint2Y" fmla="*/ 86119 h 294930"/>
              <a:gd name="GluePoint3X" fmla="*/ 2037159 w 2297876"/>
              <a:gd name="GluePoint3Y" fmla="*/ 105557 h 294930"/>
              <a:gd name="GluePoint4X" fmla="*/ 2037159 w 2297876"/>
              <a:gd name="GluePoint4Y" fmla="*/ 271228 h 294930"/>
              <a:gd name="GluePoint5X" fmla="*/ 2017634 w 2297876"/>
              <a:gd name="GluePoint5Y" fmla="*/ 290665 h 294930"/>
              <a:gd name="GluePoint6X" fmla="*/ 2017634 w 2297876"/>
              <a:gd name="GluePoint6Y" fmla="*/ 290665 h 294930"/>
              <a:gd name="GluePoint7X" fmla="*/ 1998109 w 2297876"/>
              <a:gd name="GluePoint7Y" fmla="*/ 271228 h 294930"/>
              <a:gd name="GluePoint8X" fmla="*/ 1998109 w 2297876"/>
              <a:gd name="GluePoint8Y" fmla="*/ 105557 h 294930"/>
              <a:gd name="GluePoint9X" fmla="*/ 2017634 w 2297876"/>
              <a:gd name="GluePoint9Y" fmla="*/ 86119 h 294930"/>
              <a:gd name="GluePoint10X" fmla="*/ 1916856 w 2297876"/>
              <a:gd name="GluePoint10Y" fmla="*/ 248378 h 294930"/>
              <a:gd name="GluePoint11X" fmla="*/ 1940230 w 2297876"/>
              <a:gd name="GluePoint11Y" fmla="*/ 271654 h 294930"/>
              <a:gd name="GluePoint12X" fmla="*/ 1916856 w 2297876"/>
              <a:gd name="GluePoint12Y" fmla="*/ 294930 h 294930"/>
              <a:gd name="GluePoint13X" fmla="*/ 1893466 w 2297876"/>
              <a:gd name="GluePoint13Y" fmla="*/ 271654 h 294930"/>
              <a:gd name="GluePoint14X" fmla="*/ 1916856 w 2297876"/>
              <a:gd name="GluePoint14Y" fmla="*/ 248378 h 294930"/>
              <a:gd name="GluePoint15X" fmla="*/ 1153836 w 2297876"/>
              <a:gd name="GluePoint15Y" fmla="*/ 257682 h 294930"/>
              <a:gd name="GluePoint16X" fmla="*/ 1153853 w 2297876"/>
              <a:gd name="GluePoint16Y" fmla="*/ 256481 h 294930"/>
              <a:gd name="GluePoint17X" fmla="*/ 1153836 w 2297876"/>
              <a:gd name="GluePoint17Y" fmla="*/ 243386 h 294930"/>
              <a:gd name="GluePoint18X" fmla="*/ 1153836 w 2297876"/>
              <a:gd name="GluePoint18Y" fmla="*/ 242380 h 294930"/>
              <a:gd name="GluePoint19X" fmla="*/ 1153836 w 2297876"/>
              <a:gd name="GluePoint19Y" fmla="*/ 224247 h 294930"/>
              <a:gd name="GluePoint20X" fmla="*/ 1153836 w 2297876"/>
              <a:gd name="GluePoint20Y" fmla="*/ 223241 h 294930"/>
              <a:gd name="GluePoint21X" fmla="*/ 1153836 w 2297876"/>
              <a:gd name="GluePoint21Y" fmla="*/ 222232 h 294930"/>
              <a:gd name="GluePoint22X" fmla="*/ 1153836 w 2297876"/>
              <a:gd name="GluePoint22Y" fmla="*/ 221226 h 294930"/>
              <a:gd name="GluePoint23X" fmla="*/ 1153850 w 2297876"/>
              <a:gd name="GluePoint23Y" fmla="*/ 192013 h 294930"/>
              <a:gd name="GluePoint24X" fmla="*/ 1153836 w 2297876"/>
              <a:gd name="GluePoint24Y" fmla="*/ 189469 h 294930"/>
              <a:gd name="GluePoint25X" fmla="*/ 1153836 w 2297876"/>
              <a:gd name="GluePoint25Y" fmla="*/ 163010 h 294930"/>
              <a:gd name="GluePoint26X" fmla="*/ 1163846 w 2297876"/>
              <a:gd name="GluePoint26Y" fmla="*/ 137475 h 294930"/>
              <a:gd name="GluePoint27X" fmla="*/ 1228807 w 2297876"/>
              <a:gd name="GluePoint27Y" fmla="*/ 121204 h 294930"/>
              <a:gd name="GluePoint28X" fmla="*/ 1251963 w 2297876"/>
              <a:gd name="GluePoint28Y" fmla="*/ 119854 h 294930"/>
              <a:gd name="GluePoint29X" fmla="*/ 1257016 w 2297876"/>
              <a:gd name="GluePoint29Y" fmla="*/ 113707 h 294930"/>
              <a:gd name="GluePoint30X" fmla="*/ 1235102 w 2297876"/>
              <a:gd name="GluePoint30Y" fmla="*/ 88189 h 294930"/>
              <a:gd name="GluePoint31X" fmla="*/ 1206504 w 2297876"/>
              <a:gd name="GluePoint31Y" fmla="*/ 86712 h 294930"/>
              <a:gd name="GluePoint32X" fmla="*/ 1174123 w 2297876"/>
              <a:gd name="GluePoint32Y" fmla="*/ 97536 h 294930"/>
              <a:gd name="GluePoint33X" fmla="*/ 1153935 w 2297876"/>
              <a:gd name="GluePoint33Y" fmla="*/ 112645 h 294930"/>
              <a:gd name="GluePoint34X" fmla="*/ 1153838 w 2297876"/>
              <a:gd name="GluePoint34Y" fmla="*/ 109566 h 294930"/>
              <a:gd name="GluePoint35X" fmla="*/ 1153838 w 2297876"/>
              <a:gd name="GluePoint35Y" fmla="*/ 104937 h 294930"/>
              <a:gd name="GluePoint36X" fmla="*/ 1135180 w 2297876"/>
              <a:gd name="GluePoint36Y" fmla="*/ 86361 h 294930"/>
              <a:gd name="GluePoint37X" fmla="*/ 1135178 w 2297876"/>
              <a:gd name="GluePoint37Y" fmla="*/ 86361 h 294930"/>
              <a:gd name="GluePoint38X" fmla="*/ 1116521 w 2297876"/>
              <a:gd name="GluePoint38Y" fmla="*/ 104937 h 294930"/>
              <a:gd name="GluePoint39X" fmla="*/ 1116521 w 2297876"/>
              <a:gd name="GluePoint39Y" fmla="*/ 272590 h 294930"/>
              <a:gd name="GluePoint40X" fmla="*/ 1135178 w 2297876"/>
              <a:gd name="GluePoint40Y" fmla="*/ 291166 h 294930"/>
              <a:gd name="GluePoint41X" fmla="*/ 1135180 w 2297876"/>
              <a:gd name="GluePoint41Y" fmla="*/ 291166 h 294930"/>
              <a:gd name="GluePoint42X" fmla="*/ 1153838 w 2297876"/>
              <a:gd name="GluePoint42Y" fmla="*/ 272590 h 294930"/>
              <a:gd name="GluePoint43X" fmla="*/ 1153838 w 2297876"/>
              <a:gd name="GluePoint43Y" fmla="*/ 257680 h 294930"/>
              <a:gd name="GluePoint44X" fmla="*/ 1049470 w 2297876"/>
              <a:gd name="GluePoint44Y" fmla="*/ 254063 h 294930"/>
              <a:gd name="GluePoint45X" fmla="*/ 1015132 w 2297876"/>
              <a:gd name="GluePoint45Y" fmla="*/ 231272 h 294930"/>
              <a:gd name="GluePoint46X" fmla="*/ 1013815 w 2297876"/>
              <a:gd name="GluePoint46Y" fmla="*/ 128488 h 294930"/>
              <a:gd name="GluePoint47X" fmla="*/ 1044582 w 2297876"/>
              <a:gd name="GluePoint47Y" fmla="*/ 127851 h 294930"/>
              <a:gd name="GluePoint48X" fmla="*/ 1062528 w 2297876"/>
              <a:gd name="GluePoint48Y" fmla="*/ 111804 h 294930"/>
              <a:gd name="GluePoint49X" fmla="*/ 1013897 w 2297876"/>
              <a:gd name="GluePoint49Y" fmla="*/ 94994 h 294930"/>
              <a:gd name="GluePoint50X" fmla="*/ 1011742 w 2297876"/>
              <a:gd name="GluePoint50Y" fmla="*/ 34120 h 294930"/>
              <a:gd name="GluePoint51X" fmla="*/ 976359 w 2297876"/>
              <a:gd name="GluePoint51Y" fmla="*/ 44379 h 294930"/>
              <a:gd name="GluePoint52X" fmla="*/ 976399 w 2297876"/>
              <a:gd name="GluePoint52Y" fmla="*/ 171960 h 294930"/>
              <a:gd name="GluePoint53X" fmla="*/ 1000549 w 2297876"/>
              <a:gd name="GluePoint53Y" fmla="*/ 275919 h 294930"/>
              <a:gd name="GluePoint54X" fmla="*/ 1048918 w 2297876"/>
              <a:gd name="GluePoint54Y" fmla="*/ 291053 h 294930"/>
              <a:gd name="GluePoint55X" fmla="*/ 1068732 w 2297876"/>
              <a:gd name="GluePoint55Y" fmla="*/ 263309 h 294930"/>
              <a:gd name="GluePoint56X" fmla="*/ 1049467 w 2297876"/>
              <a:gd name="GluePoint56Y" fmla="*/ 254066 h 294930"/>
              <a:gd name="GluePoint57X" fmla="*/ 1654329 w 2297876"/>
              <a:gd name="GluePoint57Y" fmla="*/ 128121 h 294930"/>
              <a:gd name="GluePoint58X" fmla="*/ 1689575 w 2297876"/>
              <a:gd name="GluePoint58Y" fmla="*/ 145262 h 294930"/>
              <a:gd name="GluePoint59X" fmla="*/ 1698835 w 2297876"/>
              <a:gd name="GluePoint59Y" fmla="*/ 123700 h 294930"/>
              <a:gd name="GluePoint60X" fmla="*/ 1658781 w 2297876"/>
              <a:gd name="GluePoint60Y" fmla="*/ 93199 h 294930"/>
              <a:gd name="GluePoint61X" fmla="*/ 1549701 w 2297876"/>
              <a:gd name="GluePoint61Y" fmla="*/ 117759 h 294930"/>
              <a:gd name="GluePoint62X" fmla="*/ 1526955 w 2297876"/>
              <a:gd name="GluePoint62Y" fmla="*/ 218229 h 294930"/>
              <a:gd name="GluePoint63X" fmla="*/ 1665135 w 2297876"/>
              <a:gd name="GluePoint63Y" fmla="*/ 285491 h 294930"/>
              <a:gd name="GluePoint64X" fmla="*/ 1695203 w 2297876"/>
              <a:gd name="GluePoint64Y" fmla="*/ 250516 h 294930"/>
              <a:gd name="GluePoint65X" fmla="*/ 1649737 w 2297876"/>
              <a:gd name="GluePoint65Y" fmla="*/ 255747 h 294930"/>
              <a:gd name="GluePoint66X" fmla="*/ 1561868 w 2297876"/>
              <a:gd name="GluePoint66Y" fmla="*/ 209722 h 294930"/>
              <a:gd name="GluePoint67X" fmla="*/ 1574096 w 2297876"/>
              <a:gd name="GluePoint67Y" fmla="*/ 143864 h 294930"/>
              <a:gd name="GluePoint68X" fmla="*/ 1654329 w 2297876"/>
              <a:gd name="GluePoint68Y" fmla="*/ 128121 h 294930"/>
              <a:gd name="GluePoint69X" fmla="*/ 770332 w 2297876"/>
              <a:gd name="GluePoint69Y" fmla="*/ 273193 h 294930"/>
              <a:gd name="GluePoint70X" fmla="*/ 878598 w 2297876"/>
              <a:gd name="GluePoint70Y" fmla="*/ 286901 h 294930"/>
              <a:gd name="GluePoint71X" fmla="*/ 915815 w 2297876"/>
              <a:gd name="GluePoint71Y" fmla="*/ 209829 h 294930"/>
              <a:gd name="GluePoint72X" fmla="*/ 846916 w 2297876"/>
              <a:gd name="GluePoint72Y" fmla="*/ 172200 h 294930"/>
              <a:gd name="GluePoint73X" fmla="*/ 798045 w 2297876"/>
              <a:gd name="GluePoint73Y" fmla="*/ 143298 h 294930"/>
              <a:gd name="GluePoint74X" fmla="*/ 878904 w 2297876"/>
              <a:gd name="GluePoint74Y" fmla="*/ 133434 h 294930"/>
              <a:gd name="GluePoint75X" fmla="*/ 909300 w 2297876"/>
              <a:gd name="GluePoint75Y" fmla="*/ 114619 h 294930"/>
              <a:gd name="GluePoint76X" fmla="*/ 887198 w 2297876"/>
              <a:gd name="GluePoint76Y" fmla="*/ 97850 h 294930"/>
              <a:gd name="GluePoint77X" fmla="*/ 821264 w 2297876"/>
              <a:gd name="GluePoint77Y" fmla="*/ 88342 h 294930"/>
              <a:gd name="GluePoint78X" fmla="*/ 791342 w 2297876"/>
              <a:gd name="GluePoint78Y" fmla="*/ 97499 h 294930"/>
              <a:gd name="GluePoint79X" fmla="*/ 771841 w 2297876"/>
              <a:gd name="GluePoint79Y" fmla="*/ 172669 h 294930"/>
              <a:gd name="GluePoint80X" fmla="*/ 822755 w 2297876"/>
              <a:gd name="GluePoint80Y" fmla="*/ 199392 h 294930"/>
              <a:gd name="GluePoint81X" fmla="*/ 878728 w 2297876"/>
              <a:gd name="GluePoint81Y" fmla="*/ 220981 h 294930"/>
              <a:gd name="GluePoint82X" fmla="*/ 804054 w 2297876"/>
              <a:gd name="GluePoint82Y" fmla="*/ 251627 h 294930"/>
              <a:gd name="GluePoint83X" fmla="*/ 789122 w 2297876"/>
              <a:gd name="GluePoint83Y" fmla="*/ 241439 h 294930"/>
              <a:gd name="GluePoint84X" fmla="*/ 770330 w 2297876"/>
              <a:gd name="GluePoint84Y" fmla="*/ 273190 h 294930"/>
              <a:gd name="GluePoint85X" fmla="*/ 191993 w 2297876"/>
              <a:gd name="GluePoint85Y" fmla="*/ 235540 h 294930"/>
              <a:gd name="GluePoint86X" fmla="*/ 191993 w 2297876"/>
              <a:gd name="GluePoint86Y" fmla="*/ 211786 h 294930"/>
              <a:gd name="GluePoint87X" fmla="*/ 191993 w 2297876"/>
              <a:gd name="GluePoint87Y" fmla="*/ 200786 h 294930"/>
              <a:gd name="GluePoint88X" fmla="*/ 191805 w 2297876"/>
              <a:gd name="GluePoint88Y" fmla="*/ 196832 h 294930"/>
              <a:gd name="GluePoint89X" fmla="*/ 190311 w 2297876"/>
              <a:gd name="GluePoint89Y" fmla="*/ 165668 h 294930"/>
              <a:gd name="GluePoint90X" fmla="*/ 189631 w 2297876"/>
              <a:gd name="GluePoint90Y" fmla="*/ 160856 h 294930"/>
              <a:gd name="GluePoint91X" fmla="*/ 126748 w 2297876"/>
              <a:gd name="GluePoint91Y" fmla="*/ 89879 h 294930"/>
              <a:gd name="GluePoint92X" fmla="*/ 60301 w 2297876"/>
              <a:gd name="GluePoint92Y" fmla="*/ 86859 h 294930"/>
              <a:gd name="GluePoint93X" fmla="*/ 17237 w 2297876"/>
              <a:gd name="GluePoint93Y" fmla="*/ 88723 h 294930"/>
              <a:gd name="GluePoint94X" fmla="*/ 16535 w 2297876"/>
              <a:gd name="GluePoint94Y" fmla="*/ 88814 h 294930"/>
              <a:gd name="GluePoint95X" fmla="*/ 16495 w 2297876"/>
              <a:gd name="GluePoint95Y" fmla="*/ 88819 h 294930"/>
              <a:gd name="GluePoint96X" fmla="*/ 16484 w 2297876"/>
              <a:gd name="GluePoint96Y" fmla="*/ 88820 h 294930"/>
              <a:gd name="GluePoint97X" fmla="*/ 15666 w 2297876"/>
              <a:gd name="GluePoint97Y" fmla="*/ 88967 h 294930"/>
              <a:gd name="GluePoint98X" fmla="*/ 0 w 2297876"/>
              <a:gd name="GluePoint98Y" fmla="*/ 107947 h 294930"/>
              <a:gd name="GluePoint99X" fmla="*/ 0 w 2297876"/>
              <a:gd name="GluePoint99Y" fmla="*/ 272844 h 294930"/>
              <a:gd name="GluePoint100X" fmla="*/ 19434 w 2297876"/>
              <a:gd name="GluePoint100Y" fmla="*/ 292192 h 294930"/>
              <a:gd name="GluePoint101X" fmla="*/ 19434 w 2297876"/>
              <a:gd name="GluePoint101Y" fmla="*/ 292192 h 294930"/>
              <a:gd name="GluePoint102X" fmla="*/ 38867 w 2297876"/>
              <a:gd name="GluePoint102Y" fmla="*/ 272844 h 294930"/>
              <a:gd name="GluePoint103X" fmla="*/ 38867 w 2297876"/>
              <a:gd name="GluePoint103Y" fmla="*/ 243403 h 294930"/>
              <a:gd name="GluePoint104X" fmla="*/ 38867 w 2297876"/>
              <a:gd name="GluePoint104Y" fmla="*/ 225117 h 294930"/>
              <a:gd name="GluePoint105X" fmla="*/ 38867 w 2297876"/>
              <a:gd name="GluePoint105Y" fmla="*/ 171375 h 294930"/>
              <a:gd name="GluePoint106X" fmla="*/ 120080 w 2297876"/>
              <a:gd name="GluePoint106Y" fmla="*/ 125356 h 294930"/>
              <a:gd name="GluePoint107X" fmla="*/ 151506 w 2297876"/>
              <a:gd name="GluePoint107Y" fmla="*/ 162882 h 294930"/>
              <a:gd name="GluePoint108X" fmla="*/ 153129 w 2297876"/>
              <a:gd name="GluePoint108Y" fmla="*/ 174664 h 294930"/>
              <a:gd name="GluePoint109X" fmla="*/ 153129 w 2297876"/>
              <a:gd name="GluePoint109Y" fmla="*/ 232862 h 294930"/>
              <a:gd name="GluePoint110X" fmla="*/ 153129 w 2297876"/>
              <a:gd name="GluePoint110Y" fmla="*/ 252033 h 294930"/>
              <a:gd name="GluePoint111X" fmla="*/ 153129 w 2297876"/>
              <a:gd name="GluePoint111Y" fmla="*/ 272845 h 294930"/>
              <a:gd name="GluePoint112X" fmla="*/ 172561 w 2297876"/>
              <a:gd name="GluePoint112Y" fmla="*/ 292192 h 294930"/>
              <a:gd name="GluePoint113X" fmla="*/ 172563 w 2297876"/>
              <a:gd name="GluePoint113Y" fmla="*/ 292192 h 294930"/>
              <a:gd name="GluePoint114X" fmla="*/ 191995 w 2297876"/>
              <a:gd name="GluePoint114Y" fmla="*/ 272845 h 294930"/>
              <a:gd name="GluePoint115X" fmla="*/ 191995 w 2297876"/>
              <a:gd name="GluePoint115Y" fmla="*/ 235540 h 294930"/>
              <a:gd name="GluePoint116X" fmla="*/ 1308999 w 2297876"/>
              <a:gd name="GluePoint116Y" fmla="*/ 200609 h 294930"/>
              <a:gd name="GluePoint117X" fmla="*/ 1350804 w 2297876"/>
              <a:gd name="GluePoint117Y" fmla="*/ 124985 h 294930"/>
              <a:gd name="GluePoint118X" fmla="*/ 1364566 w 2297876"/>
              <a:gd name="GluePoint118Y" fmla="*/ 121218 h 294930"/>
              <a:gd name="GluePoint119X" fmla="*/ 1415916 w 2297876"/>
              <a:gd name="GluePoint119Y" fmla="*/ 135530 h 294930"/>
              <a:gd name="GluePoint120X" fmla="*/ 1384925 w 2297876"/>
              <a:gd name="GluePoint120Y" fmla="*/ 258599 h 294930"/>
              <a:gd name="GluePoint121X" fmla="*/ 1308999 w 2297876"/>
              <a:gd name="GluePoint121Y" fmla="*/ 200609 h 294930"/>
              <a:gd name="GluePoint122X" fmla="*/ 1294981 w 2297876"/>
              <a:gd name="GluePoint122Y" fmla="*/ 123802 h 294930"/>
              <a:gd name="GluePoint123X" fmla="*/ 1272636 w 2297876"/>
              <a:gd name="GluePoint123Y" fmla="*/ 202370 h 294930"/>
              <a:gd name="GluePoint124X" fmla="*/ 1342351 w 2297876"/>
              <a:gd name="GluePoint124Y" fmla="*/ 289776 h 294930"/>
              <a:gd name="GluePoint125X" fmla="*/ 1387963 w 2297876"/>
              <a:gd name="GluePoint125Y" fmla="*/ 292789 h 294930"/>
              <a:gd name="GluePoint126X" fmla="*/ 1438326 w 2297876"/>
              <a:gd name="GluePoint126Y" fmla="*/ 292788 h 294930"/>
              <a:gd name="GluePoint127X" fmla="*/ 1476225 w 2297876"/>
              <a:gd name="GluePoint127Y" fmla="*/ 278569 h 294930"/>
              <a:gd name="GluePoint128X" fmla="*/ 1475850 w 2297876"/>
              <a:gd name="GluePoint128Y" fmla="*/ 177668 h 294930"/>
              <a:gd name="GluePoint129X" fmla="*/ 1414213 w 2297876"/>
              <a:gd name="GluePoint129Y" fmla="*/ 94330 h 294930"/>
              <a:gd name="GluePoint130X" fmla="*/ 1294982 w 2297876"/>
              <a:gd name="GluePoint130Y" fmla="*/ 123802 h 294930"/>
              <a:gd name="GluePoint131X" fmla="*/ 280631 w 2297876"/>
              <a:gd name="GluePoint131Y" fmla="*/ 200609 h 294930"/>
              <a:gd name="GluePoint132X" fmla="*/ 322436 w 2297876"/>
              <a:gd name="GluePoint132Y" fmla="*/ 124985 h 294930"/>
              <a:gd name="GluePoint133X" fmla="*/ 336198 w 2297876"/>
              <a:gd name="GluePoint133Y" fmla="*/ 121218 h 294930"/>
              <a:gd name="GluePoint134X" fmla="*/ 387548 w 2297876"/>
              <a:gd name="GluePoint134Y" fmla="*/ 135530 h 294930"/>
              <a:gd name="GluePoint135X" fmla="*/ 356557 w 2297876"/>
              <a:gd name="GluePoint135Y" fmla="*/ 258599 h 294930"/>
              <a:gd name="GluePoint136X" fmla="*/ 280631 w 2297876"/>
              <a:gd name="GluePoint136Y" fmla="*/ 200609 h 294930"/>
              <a:gd name="GluePoint137X" fmla="*/ 266613 w 2297876"/>
              <a:gd name="GluePoint137Y" fmla="*/ 123802 h 294930"/>
              <a:gd name="GluePoint138X" fmla="*/ 244268 w 2297876"/>
              <a:gd name="GluePoint138Y" fmla="*/ 202370 h 294930"/>
              <a:gd name="GluePoint139X" fmla="*/ 277989 w 2297876"/>
              <a:gd name="GluePoint139Y" fmla="*/ 270407 h 294930"/>
              <a:gd name="GluePoint140X" fmla="*/ 359597 w 2297876"/>
              <a:gd name="GluePoint140Y" fmla="*/ 292789 h 294930"/>
              <a:gd name="GluePoint141X" fmla="*/ 409959 w 2297876"/>
              <a:gd name="GluePoint141Y" fmla="*/ 292788 h 294930"/>
              <a:gd name="GluePoint142X" fmla="*/ 447859 w 2297876"/>
              <a:gd name="GluePoint142Y" fmla="*/ 278569 h 294930"/>
              <a:gd name="GluePoint143X" fmla="*/ 447483 w 2297876"/>
              <a:gd name="GluePoint143Y" fmla="*/ 177668 h 294930"/>
              <a:gd name="GluePoint144X" fmla="*/ 394896 w 2297876"/>
              <a:gd name="GluePoint144Y" fmla="*/ 98837 h 294930"/>
              <a:gd name="GluePoint145X" fmla="*/ 266614 w 2297876"/>
              <a:gd name="GluePoint145Y" fmla="*/ 123802 h 294930"/>
              <a:gd name="GluePoint146X" fmla="*/ 672466 w 2297876"/>
              <a:gd name="GluePoint146Y" fmla="*/ 200609 h 294930"/>
              <a:gd name="GluePoint147X" fmla="*/ 542141 w 2297876"/>
              <a:gd name="GluePoint147Y" fmla="*/ 178857 h 294930"/>
              <a:gd name="GluePoint148X" fmla="*/ 617943 w 2297876"/>
              <a:gd name="GluePoint148Y" fmla="*/ 121296 h 294930"/>
              <a:gd name="GluePoint149X" fmla="*/ 672468 w 2297876"/>
              <a:gd name="GluePoint149Y" fmla="*/ 200609 h 294930"/>
              <a:gd name="GluePoint150X" fmla="*/ 524049 w 2297876"/>
              <a:gd name="GluePoint150Y" fmla="*/ 0 h 294930"/>
              <a:gd name="GluePoint151X" fmla="*/ 524051 w 2297876"/>
              <a:gd name="GluePoint151Y" fmla="*/ 0 h 294930"/>
              <a:gd name="GluePoint152X" fmla="*/ 543001 w 2297876"/>
              <a:gd name="GluePoint152Y" fmla="*/ 18867 h 294930"/>
              <a:gd name="GluePoint153X" fmla="*/ 543001 w 2297876"/>
              <a:gd name="GluePoint153Y" fmla="*/ 19889 h 294930"/>
              <a:gd name="GluePoint154X" fmla="*/ 543001 w 2297876"/>
              <a:gd name="GluePoint154Y" fmla="*/ 43973 h 294930"/>
              <a:gd name="GluePoint155X" fmla="*/ 543001 w 2297876"/>
              <a:gd name="GluePoint155Y" fmla="*/ 50251 h 294930"/>
              <a:gd name="GluePoint156X" fmla="*/ 543001 w 2297876"/>
              <a:gd name="GluePoint156Y" fmla="*/ 52569 h 294930"/>
              <a:gd name="GluePoint157X" fmla="*/ 543001 w 2297876"/>
              <a:gd name="GluePoint157Y" fmla="*/ 95469 h 294930"/>
              <a:gd name="GluePoint158X" fmla="*/ 543001 w 2297876"/>
              <a:gd name="GluePoint158Y" fmla="*/ 118633 h 294930"/>
              <a:gd name="GluePoint159X" fmla="*/ 566288 w 2297876"/>
              <a:gd name="GluePoint159Y" fmla="*/ 100559 h 294930"/>
              <a:gd name="GluePoint160X" fmla="*/ 580163 w 2297876"/>
              <a:gd name="GluePoint160Y" fmla="*/ 93570 h 294930"/>
              <a:gd name="GluePoint161X" fmla="*/ 634191 w 2297876"/>
              <a:gd name="GluePoint161Y" fmla="*/ 89071 h 294930"/>
              <a:gd name="GluePoint162X" fmla="*/ 617153 w 2297876"/>
              <a:gd name="GluePoint162Y" fmla="*/ 292337 h 294930"/>
              <a:gd name="GluePoint163X" fmla="*/ 514845 w 2297876"/>
              <a:gd name="GluePoint163Y" fmla="*/ 291004 h 294930"/>
              <a:gd name="GluePoint164X" fmla="*/ 505013 w 2297876"/>
              <a:gd name="GluePoint164Y" fmla="*/ 249318 h 294930"/>
              <a:gd name="GluePoint165X" fmla="*/ 505013 w 2297876"/>
              <a:gd name="GluePoint165Y" fmla="*/ 45888 h 294930"/>
              <a:gd name="GluePoint166X" fmla="*/ 505106 w 2297876"/>
              <a:gd name="GluePoint166Y" fmla="*/ 18390 h 294930"/>
              <a:gd name="GluePoint167X" fmla="*/ 524048 w 2297876"/>
              <a:gd name="GluePoint167Y" fmla="*/ 0 h 294930"/>
              <a:gd name="GluePoint168X" fmla="*/ 2193358 w 2297876"/>
              <a:gd name="GluePoint168Y" fmla="*/ 85236 h 294930"/>
              <a:gd name="GluePoint169X" fmla="*/ 2297877 w 2297876"/>
              <a:gd name="GluePoint169Y" fmla="*/ 188395 h 294930"/>
              <a:gd name="GluePoint170X" fmla="*/ 2193358 w 2297876"/>
              <a:gd name="GluePoint170Y" fmla="*/ 291553 h 294930"/>
              <a:gd name="GluePoint171X" fmla="*/ 2088839 w 2297876"/>
              <a:gd name="GluePoint171Y" fmla="*/ 188395 h 294930"/>
              <a:gd name="GluePoint172X" fmla="*/ 2193358 w 2297876"/>
              <a:gd name="GluePoint172Y" fmla="*/ 85236 h 294930"/>
              <a:gd name="GluePoint173X" fmla="*/ 2193358 w 2297876"/>
              <a:gd name="GluePoint173Y" fmla="*/ 118821 h 294930"/>
              <a:gd name="GluePoint174X" fmla="*/ 2259322 w 2297876"/>
              <a:gd name="GluePoint174Y" fmla="*/ 188395 h 294930"/>
              <a:gd name="GluePoint175X" fmla="*/ 2193358 w 2297876"/>
              <a:gd name="GluePoint175Y" fmla="*/ 257968 h 294930"/>
              <a:gd name="GluePoint176X" fmla="*/ 2127394 w 2297876"/>
              <a:gd name="GluePoint176Y" fmla="*/ 188395 h 294930"/>
              <a:gd name="GluePoint177X" fmla="*/ 2193358 w 2297876"/>
              <a:gd name="GluePoint177Y" fmla="*/ 118821 h 294930"/>
              <a:gd name="GluePoint178X" fmla="*/ 1783938 w 2297876"/>
              <a:gd name="GluePoint178Y" fmla="*/ 22704 h 294930"/>
              <a:gd name="GluePoint179X" fmla="*/ 1783938 w 2297876"/>
              <a:gd name="GluePoint179Y" fmla="*/ 22704 h 294930"/>
              <a:gd name="GluePoint180X" fmla="*/ 1802829 w 2297876"/>
              <a:gd name="GluePoint180Y" fmla="*/ 41510 h 294930"/>
              <a:gd name="GluePoint181X" fmla="*/ 1802829 w 2297876"/>
              <a:gd name="GluePoint181Y" fmla="*/ 47739 h 294930"/>
              <a:gd name="GluePoint182X" fmla="*/ 1802829 w 2297876"/>
              <a:gd name="GluePoint182Y" fmla="*/ 73338 h 294930"/>
              <a:gd name="GluePoint183X" fmla="*/ 1802829 w 2297876"/>
              <a:gd name="GluePoint183Y" fmla="*/ 89219 h 294930"/>
              <a:gd name="GluePoint184X" fmla="*/ 1803494 w 2297876"/>
              <a:gd name="GluePoint184Y" fmla="*/ 95357 h 294930"/>
              <a:gd name="GluePoint185X" fmla="*/ 1851788 w 2297876"/>
              <a:gd name="GluePoint185Y" fmla="*/ 111798 h 294930"/>
              <a:gd name="GluePoint186X" fmla="*/ 1803432 w 2297876"/>
              <a:gd name="GluePoint186Y" fmla="*/ 128133 h 294930"/>
              <a:gd name="GluePoint187X" fmla="*/ 1802829 w 2297876"/>
              <a:gd name="GluePoint187Y" fmla="*/ 137859 h 294930"/>
              <a:gd name="GluePoint188X" fmla="*/ 1802829 w 2297876"/>
              <a:gd name="GluePoint188Y" fmla="*/ 201802 h 294930"/>
              <a:gd name="GluePoint189X" fmla="*/ 1802736 w 2297876"/>
              <a:gd name="GluePoint189Y" fmla="*/ 203763 h 294930"/>
              <a:gd name="GluePoint190X" fmla="*/ 1804035 w 2297876"/>
              <a:gd name="GluePoint190Y" fmla="*/ 229548 h 294930"/>
              <a:gd name="GluePoint191X" fmla="*/ 1853179 w 2297876"/>
              <a:gd name="GluePoint191Y" fmla="*/ 257894 h 294930"/>
              <a:gd name="GluePoint192X" fmla="*/ 1858992 w 2297876"/>
              <a:gd name="GluePoint192Y" fmla="*/ 276544 h 294930"/>
              <a:gd name="GluePoint193X" fmla="*/ 1823111 w 2297876"/>
              <a:gd name="GluePoint193Y" fmla="*/ 290661 h 294930"/>
              <a:gd name="GluePoint194X" fmla="*/ 1790091 w 2297876"/>
              <a:gd name="GluePoint194Y" fmla="*/ 276333 h 294930"/>
              <a:gd name="GluePoint195X" fmla="*/ 1765634 w 2297876"/>
              <a:gd name="GluePoint195Y" fmla="*/ 206413 h 294930"/>
              <a:gd name="GluePoint196X" fmla="*/ 1765047 w 2297876"/>
              <a:gd name="GluePoint196Y" fmla="*/ 201800 h 294930"/>
              <a:gd name="GluePoint197X" fmla="*/ 1765047 w 2297876"/>
              <a:gd name="GluePoint197Y" fmla="*/ 41509 h 294930"/>
              <a:gd name="GluePoint198X" fmla="*/ 1783938 w 2297876"/>
              <a:gd name="GluePoint198Y" fmla="*/ 22702 h 29493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  <a:cxn ang="0">
                <a:pos x="GluePoint103X" y="GluePoint103Y"/>
              </a:cxn>
              <a:cxn ang="0">
                <a:pos x="GluePoint104X" y="GluePoint104Y"/>
              </a:cxn>
              <a:cxn ang="0">
                <a:pos x="GluePoint105X" y="GluePoint105Y"/>
              </a:cxn>
              <a:cxn ang="0">
                <a:pos x="GluePoint106X" y="GluePoint106Y"/>
              </a:cxn>
              <a:cxn ang="0">
                <a:pos x="GluePoint107X" y="GluePoint107Y"/>
              </a:cxn>
              <a:cxn ang="0">
                <a:pos x="GluePoint108X" y="GluePoint108Y"/>
              </a:cxn>
              <a:cxn ang="0">
                <a:pos x="GluePoint109X" y="GluePoint109Y"/>
              </a:cxn>
              <a:cxn ang="0">
                <a:pos x="GluePoint110X" y="GluePoint110Y"/>
              </a:cxn>
              <a:cxn ang="0">
                <a:pos x="GluePoint111X" y="GluePoint111Y"/>
              </a:cxn>
              <a:cxn ang="0">
                <a:pos x="GluePoint112X" y="GluePoint112Y"/>
              </a:cxn>
              <a:cxn ang="0">
                <a:pos x="GluePoint113X" y="GluePoint113Y"/>
              </a:cxn>
              <a:cxn ang="0">
                <a:pos x="GluePoint114X" y="GluePoint114Y"/>
              </a:cxn>
              <a:cxn ang="0">
                <a:pos x="GluePoint115X" y="GluePoint115Y"/>
              </a:cxn>
              <a:cxn ang="0">
                <a:pos x="GluePoint116X" y="GluePoint116Y"/>
              </a:cxn>
              <a:cxn ang="0">
                <a:pos x="GluePoint117X" y="GluePoint117Y"/>
              </a:cxn>
              <a:cxn ang="0">
                <a:pos x="GluePoint118X" y="GluePoint118Y"/>
              </a:cxn>
              <a:cxn ang="0">
                <a:pos x="GluePoint119X" y="GluePoint119Y"/>
              </a:cxn>
              <a:cxn ang="0">
                <a:pos x="GluePoint120X" y="GluePoint120Y"/>
              </a:cxn>
              <a:cxn ang="0">
                <a:pos x="GluePoint121X" y="GluePoint121Y"/>
              </a:cxn>
              <a:cxn ang="0">
                <a:pos x="GluePoint122X" y="GluePoint122Y"/>
              </a:cxn>
              <a:cxn ang="0">
                <a:pos x="GluePoint123X" y="GluePoint123Y"/>
              </a:cxn>
              <a:cxn ang="0">
                <a:pos x="GluePoint124X" y="GluePoint124Y"/>
              </a:cxn>
              <a:cxn ang="0">
                <a:pos x="GluePoint125X" y="GluePoint125Y"/>
              </a:cxn>
              <a:cxn ang="0">
                <a:pos x="GluePoint126X" y="GluePoint126Y"/>
              </a:cxn>
              <a:cxn ang="0">
                <a:pos x="GluePoint127X" y="GluePoint127Y"/>
              </a:cxn>
              <a:cxn ang="0">
                <a:pos x="GluePoint128X" y="GluePoint128Y"/>
              </a:cxn>
              <a:cxn ang="0">
                <a:pos x="GluePoint129X" y="GluePoint129Y"/>
              </a:cxn>
              <a:cxn ang="0">
                <a:pos x="GluePoint130X" y="GluePoint130Y"/>
              </a:cxn>
              <a:cxn ang="0">
                <a:pos x="GluePoint131X" y="GluePoint131Y"/>
              </a:cxn>
              <a:cxn ang="0">
                <a:pos x="GluePoint132X" y="GluePoint132Y"/>
              </a:cxn>
              <a:cxn ang="0">
                <a:pos x="GluePoint133X" y="GluePoint133Y"/>
              </a:cxn>
              <a:cxn ang="0">
                <a:pos x="GluePoint134X" y="GluePoint134Y"/>
              </a:cxn>
              <a:cxn ang="0">
                <a:pos x="GluePoint135X" y="GluePoint135Y"/>
              </a:cxn>
              <a:cxn ang="0">
                <a:pos x="GluePoint136X" y="GluePoint136Y"/>
              </a:cxn>
              <a:cxn ang="0">
                <a:pos x="GluePoint137X" y="GluePoint137Y"/>
              </a:cxn>
              <a:cxn ang="0">
                <a:pos x="GluePoint138X" y="GluePoint138Y"/>
              </a:cxn>
              <a:cxn ang="0">
                <a:pos x="GluePoint139X" y="GluePoint139Y"/>
              </a:cxn>
              <a:cxn ang="0">
                <a:pos x="GluePoint140X" y="GluePoint140Y"/>
              </a:cxn>
              <a:cxn ang="0">
                <a:pos x="GluePoint141X" y="GluePoint141Y"/>
              </a:cxn>
              <a:cxn ang="0">
                <a:pos x="GluePoint142X" y="GluePoint142Y"/>
              </a:cxn>
              <a:cxn ang="0">
                <a:pos x="GluePoint143X" y="GluePoint143Y"/>
              </a:cxn>
              <a:cxn ang="0">
                <a:pos x="GluePoint144X" y="GluePoint144Y"/>
              </a:cxn>
              <a:cxn ang="0">
                <a:pos x="GluePoint145X" y="GluePoint145Y"/>
              </a:cxn>
              <a:cxn ang="0">
                <a:pos x="GluePoint146X" y="GluePoint146Y"/>
              </a:cxn>
              <a:cxn ang="0">
                <a:pos x="GluePoint147X" y="GluePoint147Y"/>
              </a:cxn>
              <a:cxn ang="0">
                <a:pos x="GluePoint148X" y="GluePoint148Y"/>
              </a:cxn>
              <a:cxn ang="0">
                <a:pos x="GluePoint149X" y="GluePoint149Y"/>
              </a:cxn>
              <a:cxn ang="0">
                <a:pos x="GluePoint150X" y="GluePoint150Y"/>
              </a:cxn>
              <a:cxn ang="0">
                <a:pos x="GluePoint151X" y="GluePoint151Y"/>
              </a:cxn>
              <a:cxn ang="0">
                <a:pos x="GluePoint152X" y="GluePoint152Y"/>
              </a:cxn>
              <a:cxn ang="0">
                <a:pos x="GluePoint153X" y="GluePoint153Y"/>
              </a:cxn>
              <a:cxn ang="0">
                <a:pos x="GluePoint154X" y="GluePoint154Y"/>
              </a:cxn>
              <a:cxn ang="0">
                <a:pos x="GluePoint155X" y="GluePoint155Y"/>
              </a:cxn>
              <a:cxn ang="0">
                <a:pos x="GluePoint156X" y="GluePoint156Y"/>
              </a:cxn>
              <a:cxn ang="0">
                <a:pos x="GluePoint157X" y="GluePoint157Y"/>
              </a:cxn>
              <a:cxn ang="0">
                <a:pos x="GluePoint158X" y="GluePoint158Y"/>
              </a:cxn>
              <a:cxn ang="0">
                <a:pos x="GluePoint159X" y="GluePoint159Y"/>
              </a:cxn>
              <a:cxn ang="0">
                <a:pos x="GluePoint160X" y="GluePoint160Y"/>
              </a:cxn>
              <a:cxn ang="0">
                <a:pos x="GluePoint161X" y="GluePoint161Y"/>
              </a:cxn>
              <a:cxn ang="0">
                <a:pos x="GluePoint162X" y="GluePoint162Y"/>
              </a:cxn>
              <a:cxn ang="0">
                <a:pos x="GluePoint163X" y="GluePoint163Y"/>
              </a:cxn>
              <a:cxn ang="0">
                <a:pos x="GluePoint164X" y="GluePoint164Y"/>
              </a:cxn>
              <a:cxn ang="0">
                <a:pos x="GluePoint165X" y="GluePoint165Y"/>
              </a:cxn>
              <a:cxn ang="0">
                <a:pos x="GluePoint166X" y="GluePoint166Y"/>
              </a:cxn>
              <a:cxn ang="0">
                <a:pos x="GluePoint167X" y="GluePoint167Y"/>
              </a:cxn>
              <a:cxn ang="0">
                <a:pos x="GluePoint168X" y="GluePoint168Y"/>
              </a:cxn>
              <a:cxn ang="0">
                <a:pos x="GluePoint169X" y="GluePoint169Y"/>
              </a:cxn>
              <a:cxn ang="0">
                <a:pos x="GluePoint170X" y="GluePoint170Y"/>
              </a:cxn>
              <a:cxn ang="0">
                <a:pos x="GluePoint171X" y="GluePoint171Y"/>
              </a:cxn>
              <a:cxn ang="0">
                <a:pos x="GluePoint172X" y="GluePoint172Y"/>
              </a:cxn>
              <a:cxn ang="0">
                <a:pos x="GluePoint173X" y="GluePoint173Y"/>
              </a:cxn>
              <a:cxn ang="0">
                <a:pos x="GluePoint174X" y="GluePoint174Y"/>
              </a:cxn>
              <a:cxn ang="0">
                <a:pos x="GluePoint175X" y="GluePoint175Y"/>
              </a:cxn>
              <a:cxn ang="0">
                <a:pos x="GluePoint176X" y="GluePoint176Y"/>
              </a:cxn>
              <a:cxn ang="0">
                <a:pos x="GluePoint177X" y="GluePoint177Y"/>
              </a:cxn>
              <a:cxn ang="0">
                <a:pos x="GluePoint178X" y="GluePoint178Y"/>
              </a:cxn>
              <a:cxn ang="0">
                <a:pos x="GluePoint179X" y="GluePoint179Y"/>
              </a:cxn>
              <a:cxn ang="0">
                <a:pos x="GluePoint180X" y="GluePoint180Y"/>
              </a:cxn>
              <a:cxn ang="0">
                <a:pos x="GluePoint181X" y="GluePoint181Y"/>
              </a:cxn>
              <a:cxn ang="0">
                <a:pos x="GluePoint182X" y="GluePoint182Y"/>
              </a:cxn>
              <a:cxn ang="0">
                <a:pos x="GluePoint183X" y="GluePoint183Y"/>
              </a:cxn>
              <a:cxn ang="0">
                <a:pos x="GluePoint184X" y="GluePoint184Y"/>
              </a:cxn>
              <a:cxn ang="0">
                <a:pos x="GluePoint185X" y="GluePoint185Y"/>
              </a:cxn>
              <a:cxn ang="0">
                <a:pos x="GluePoint186X" y="GluePoint186Y"/>
              </a:cxn>
              <a:cxn ang="0">
                <a:pos x="GluePoint187X" y="GluePoint187Y"/>
              </a:cxn>
              <a:cxn ang="0">
                <a:pos x="GluePoint188X" y="GluePoint188Y"/>
              </a:cxn>
              <a:cxn ang="0">
                <a:pos x="GluePoint189X" y="GluePoint189Y"/>
              </a:cxn>
              <a:cxn ang="0">
                <a:pos x="GluePoint190X" y="GluePoint190Y"/>
              </a:cxn>
              <a:cxn ang="0">
                <a:pos x="GluePoint191X" y="GluePoint191Y"/>
              </a:cxn>
              <a:cxn ang="0">
                <a:pos x="GluePoint192X" y="GluePoint192Y"/>
              </a:cxn>
              <a:cxn ang="0">
                <a:pos x="GluePoint193X" y="GluePoint193Y"/>
              </a:cxn>
              <a:cxn ang="0">
                <a:pos x="GluePoint194X" y="GluePoint194Y"/>
              </a:cxn>
              <a:cxn ang="0">
                <a:pos x="GluePoint195X" y="GluePoint195Y"/>
              </a:cxn>
              <a:cxn ang="0">
                <a:pos x="GluePoint196X" y="GluePoint196Y"/>
              </a:cxn>
              <a:cxn ang="0">
                <a:pos x="GluePoint197X" y="GluePoint197Y"/>
              </a:cxn>
              <a:cxn ang="0">
                <a:pos x="GluePoint198X" y="GluePoint198Y"/>
              </a:cxn>
            </a:cxnLst>
            <a:rect l="textAreaLeft" t="textAreaTop" r="textAreaRight" b="textAreaBottom"/>
            <a:pathLst>
              <a:path w="2297876" h="294930">
                <a:moveTo>
                  <a:pt x="2017634" y="86119"/>
                </a:moveTo>
                <a:lnTo>
                  <a:pt x="2017634" y="86119"/>
                </a:lnTo>
                <a:cubicBezTo>
                  <a:pt x="2028362" y="86119"/>
                  <a:pt x="2037159" y="94877"/>
                  <a:pt x="2037159" y="105557"/>
                </a:cubicBezTo>
                <a:lnTo>
                  <a:pt x="2037159" y="271228"/>
                </a:lnTo>
                <a:cubicBezTo>
                  <a:pt x="2037159" y="281909"/>
                  <a:pt x="2028362" y="290665"/>
                  <a:pt x="2017634" y="290665"/>
                </a:cubicBezTo>
                <a:lnTo>
                  <a:pt x="2017634" y="290665"/>
                </a:lnTo>
                <a:cubicBezTo>
                  <a:pt x="2006905" y="290665"/>
                  <a:pt x="1998109" y="281918"/>
                  <a:pt x="1998109" y="271228"/>
                </a:cubicBezTo>
                <a:lnTo>
                  <a:pt x="1998109" y="105557"/>
                </a:lnTo>
                <a:cubicBezTo>
                  <a:pt x="1998109" y="94866"/>
                  <a:pt x="2006890" y="86119"/>
                  <a:pt x="2017634" y="86119"/>
                </a:cubicBezTo>
                <a:close/>
                <a:moveTo>
                  <a:pt x="1916856" y="248378"/>
                </a:moveTo>
                <a:cubicBezTo>
                  <a:pt x="1929764" y="248378"/>
                  <a:pt x="1940230" y="258798"/>
                  <a:pt x="1940230" y="271654"/>
                </a:cubicBezTo>
                <a:cubicBezTo>
                  <a:pt x="1940230" y="284509"/>
                  <a:pt x="1929764" y="294930"/>
                  <a:pt x="1916856" y="294930"/>
                </a:cubicBezTo>
                <a:cubicBezTo>
                  <a:pt x="1903932" y="294930"/>
                  <a:pt x="1893466" y="284510"/>
                  <a:pt x="1893466" y="271654"/>
                </a:cubicBezTo>
                <a:cubicBezTo>
                  <a:pt x="1893466" y="258799"/>
                  <a:pt x="1903932" y="248378"/>
                  <a:pt x="1916856" y="248378"/>
                </a:cubicBezTo>
                <a:close/>
                <a:moveTo>
                  <a:pt x="1153836" y="257682"/>
                </a:moveTo>
                <a:cubicBezTo>
                  <a:pt x="1153848" y="257289"/>
                  <a:pt x="1153853" y="256891"/>
                  <a:pt x="1153853" y="256481"/>
                </a:cubicBezTo>
                <a:lnTo>
                  <a:pt x="1153836" y="243386"/>
                </a:lnTo>
                <a:lnTo>
                  <a:pt x="1153836" y="242380"/>
                </a:lnTo>
                <a:lnTo>
                  <a:pt x="1153836" y="224247"/>
                </a:lnTo>
                <a:lnTo>
                  <a:pt x="1153836" y="223241"/>
                </a:lnTo>
                <a:lnTo>
                  <a:pt x="1153836" y="222232"/>
                </a:lnTo>
                <a:lnTo>
                  <a:pt x="1153836" y="221226"/>
                </a:lnTo>
                <a:lnTo>
                  <a:pt x="1153850" y="192013"/>
                </a:lnTo>
                <a:lnTo>
                  <a:pt x="1153836" y="189469"/>
                </a:lnTo>
                <a:lnTo>
                  <a:pt x="1153836" y="163010"/>
                </a:lnTo>
                <a:cubicBezTo>
                  <a:pt x="1154589" y="153321"/>
                  <a:pt x="1157007" y="144711"/>
                  <a:pt x="1163846" y="137475"/>
                </a:cubicBezTo>
                <a:cubicBezTo>
                  <a:pt x="1183624" y="116543"/>
                  <a:pt x="1209282" y="119454"/>
                  <a:pt x="1228807" y="121204"/>
                </a:cubicBezTo>
                <a:cubicBezTo>
                  <a:pt x="1238547" y="122076"/>
                  <a:pt x="1246766" y="122663"/>
                  <a:pt x="1251963" y="119854"/>
                </a:cubicBezTo>
                <a:cubicBezTo>
                  <a:pt x="1254305" y="118589"/>
                  <a:pt x="1256036" y="116632"/>
                  <a:pt x="1257016" y="113707"/>
                </a:cubicBezTo>
                <a:cubicBezTo>
                  <a:pt x="1262042" y="98697"/>
                  <a:pt x="1247447" y="91197"/>
                  <a:pt x="1235102" y="88189"/>
                </a:cubicBezTo>
                <a:cubicBezTo>
                  <a:pt x="1225658" y="85888"/>
                  <a:pt x="1215968" y="85499"/>
                  <a:pt x="1206504" y="86712"/>
                </a:cubicBezTo>
                <a:cubicBezTo>
                  <a:pt x="1195113" y="88172"/>
                  <a:pt x="1184045" y="91957"/>
                  <a:pt x="1174123" y="97536"/>
                </a:cubicBezTo>
                <a:cubicBezTo>
                  <a:pt x="1165256" y="102525"/>
                  <a:pt x="1159352" y="107987"/>
                  <a:pt x="1153935" y="112645"/>
                </a:cubicBezTo>
                <a:cubicBezTo>
                  <a:pt x="1153743" y="111590"/>
                  <a:pt x="1153987" y="110564"/>
                  <a:pt x="1153838" y="109566"/>
                </a:cubicBezTo>
                <a:lnTo>
                  <a:pt x="1153838" y="104937"/>
                </a:lnTo>
                <a:cubicBezTo>
                  <a:pt x="1153838" y="94721"/>
                  <a:pt x="1145443" y="86361"/>
                  <a:pt x="1135180" y="86361"/>
                </a:cubicBezTo>
                <a:lnTo>
                  <a:pt x="1135178" y="86361"/>
                </a:lnTo>
                <a:cubicBezTo>
                  <a:pt x="1124917" y="86361"/>
                  <a:pt x="1116521" y="94718"/>
                  <a:pt x="1116521" y="104937"/>
                </a:cubicBezTo>
                <a:lnTo>
                  <a:pt x="1116521" y="272590"/>
                </a:lnTo>
                <a:cubicBezTo>
                  <a:pt x="1116521" y="282807"/>
                  <a:pt x="1124917" y="291166"/>
                  <a:pt x="1135178" y="291166"/>
                </a:cubicBezTo>
                <a:lnTo>
                  <a:pt x="1135180" y="291166"/>
                </a:lnTo>
                <a:cubicBezTo>
                  <a:pt x="1145440" y="291166"/>
                  <a:pt x="1153838" y="282807"/>
                  <a:pt x="1153838" y="272590"/>
                </a:cubicBezTo>
                <a:lnTo>
                  <a:pt x="1153838" y="257680"/>
                </a:lnTo>
                <a:close/>
                <a:moveTo>
                  <a:pt x="1049470" y="254063"/>
                </a:moveTo>
                <a:cubicBezTo>
                  <a:pt x="1035346" y="253141"/>
                  <a:pt x="1021099" y="253283"/>
                  <a:pt x="1015132" y="231272"/>
                </a:cubicBezTo>
                <a:cubicBezTo>
                  <a:pt x="1012301" y="220823"/>
                  <a:pt x="1012757" y="137285"/>
                  <a:pt x="1013815" y="128488"/>
                </a:cubicBezTo>
                <a:cubicBezTo>
                  <a:pt x="1022133" y="126575"/>
                  <a:pt x="1035419" y="128341"/>
                  <a:pt x="1044582" y="127851"/>
                </a:cubicBezTo>
                <a:cubicBezTo>
                  <a:pt x="1054465" y="127322"/>
                  <a:pt x="1062734" y="122535"/>
                  <a:pt x="1062528" y="111804"/>
                </a:cubicBezTo>
                <a:cubicBezTo>
                  <a:pt x="1062050" y="87061"/>
                  <a:pt x="1029096" y="99491"/>
                  <a:pt x="1013897" y="94994"/>
                </a:cubicBezTo>
                <a:cubicBezTo>
                  <a:pt x="1011607" y="81106"/>
                  <a:pt x="1016342" y="44145"/>
                  <a:pt x="1011742" y="34120"/>
                </a:cubicBezTo>
                <a:cubicBezTo>
                  <a:pt x="1004917" y="19244"/>
                  <a:pt x="977208" y="19204"/>
                  <a:pt x="976359" y="44379"/>
                </a:cubicBezTo>
                <a:cubicBezTo>
                  <a:pt x="974961" y="85865"/>
                  <a:pt x="976399" y="130155"/>
                  <a:pt x="976399" y="171960"/>
                </a:cubicBezTo>
                <a:cubicBezTo>
                  <a:pt x="976399" y="218152"/>
                  <a:pt x="971472" y="250114"/>
                  <a:pt x="1000549" y="275919"/>
                </a:cubicBezTo>
                <a:cubicBezTo>
                  <a:pt x="1012991" y="286959"/>
                  <a:pt x="1027408" y="292021"/>
                  <a:pt x="1048918" y="291053"/>
                </a:cubicBezTo>
                <a:cubicBezTo>
                  <a:pt x="1064195" y="290368"/>
                  <a:pt x="1077111" y="276327"/>
                  <a:pt x="1068732" y="263309"/>
                </a:cubicBezTo>
                <a:cubicBezTo>
                  <a:pt x="1065170" y="257780"/>
                  <a:pt x="1057728" y="254603"/>
                  <a:pt x="1049467" y="254066"/>
                </a:cubicBezTo>
                <a:close/>
                <a:moveTo>
                  <a:pt x="1654329" y="128121"/>
                </a:moveTo>
                <a:cubicBezTo>
                  <a:pt x="1668721" y="137143"/>
                  <a:pt x="1676497" y="149902"/>
                  <a:pt x="1689575" y="145262"/>
                </a:cubicBezTo>
                <a:cubicBezTo>
                  <a:pt x="1696377" y="142853"/>
                  <a:pt x="1703921" y="133569"/>
                  <a:pt x="1698835" y="123700"/>
                </a:cubicBezTo>
                <a:cubicBezTo>
                  <a:pt x="1693471" y="113286"/>
                  <a:pt x="1673189" y="98628"/>
                  <a:pt x="1658781" y="93199"/>
                </a:cubicBezTo>
                <a:cubicBezTo>
                  <a:pt x="1622282" y="79427"/>
                  <a:pt x="1576198" y="88733"/>
                  <a:pt x="1549701" y="117759"/>
                </a:cubicBezTo>
                <a:cubicBezTo>
                  <a:pt x="1525079" y="144726"/>
                  <a:pt x="1518763" y="184644"/>
                  <a:pt x="1526955" y="218229"/>
                </a:cubicBezTo>
                <a:cubicBezTo>
                  <a:pt x="1541696" y="278666"/>
                  <a:pt x="1609142" y="308165"/>
                  <a:pt x="1665135" y="285491"/>
                </a:cubicBezTo>
                <a:cubicBezTo>
                  <a:pt x="1677780" y="280370"/>
                  <a:pt x="1703798" y="266840"/>
                  <a:pt x="1695203" y="250516"/>
                </a:cubicBezTo>
                <a:cubicBezTo>
                  <a:pt x="1683655" y="228595"/>
                  <a:pt x="1662970" y="251341"/>
                  <a:pt x="1649737" y="255747"/>
                </a:cubicBezTo>
                <a:cubicBezTo>
                  <a:pt x="1606993" y="269976"/>
                  <a:pt x="1569937" y="244742"/>
                  <a:pt x="1561868" y="209722"/>
                </a:cubicBezTo>
                <a:cubicBezTo>
                  <a:pt x="1555638" y="182657"/>
                  <a:pt x="1561187" y="159742"/>
                  <a:pt x="1574096" y="143864"/>
                </a:cubicBezTo>
                <a:cubicBezTo>
                  <a:pt x="1592600" y="121131"/>
                  <a:pt x="1628790" y="112117"/>
                  <a:pt x="1654329" y="128121"/>
                </a:cubicBezTo>
                <a:close/>
                <a:moveTo>
                  <a:pt x="770332" y="273193"/>
                </a:moveTo>
                <a:cubicBezTo>
                  <a:pt x="800714" y="293094"/>
                  <a:pt x="843781" y="298543"/>
                  <a:pt x="878598" y="286901"/>
                </a:cubicBezTo>
                <a:cubicBezTo>
                  <a:pt x="909469" y="276581"/>
                  <a:pt x="931849" y="239395"/>
                  <a:pt x="915815" y="209829"/>
                </a:cubicBezTo>
                <a:cubicBezTo>
                  <a:pt x="904217" y="188448"/>
                  <a:pt x="874063" y="178055"/>
                  <a:pt x="846916" y="172200"/>
                </a:cubicBezTo>
                <a:cubicBezTo>
                  <a:pt x="827200" y="167949"/>
                  <a:pt x="798644" y="164750"/>
                  <a:pt x="798045" y="143298"/>
                </a:cubicBezTo>
                <a:cubicBezTo>
                  <a:pt x="797263" y="115303"/>
                  <a:pt x="853211" y="112581"/>
                  <a:pt x="878904" y="133434"/>
                </a:cubicBezTo>
                <a:cubicBezTo>
                  <a:pt x="907377" y="156545"/>
                  <a:pt x="925608" y="131782"/>
                  <a:pt x="909300" y="114619"/>
                </a:cubicBezTo>
                <a:cubicBezTo>
                  <a:pt x="902674" y="107647"/>
                  <a:pt x="897432" y="103285"/>
                  <a:pt x="887198" y="97850"/>
                </a:cubicBezTo>
                <a:cubicBezTo>
                  <a:pt x="869287" y="88339"/>
                  <a:pt x="843715" y="84923"/>
                  <a:pt x="821264" y="88342"/>
                </a:cubicBezTo>
                <a:cubicBezTo>
                  <a:pt x="809550" y="90127"/>
                  <a:pt x="800268" y="92696"/>
                  <a:pt x="791342" y="97499"/>
                </a:cubicBezTo>
                <a:cubicBezTo>
                  <a:pt x="755582" y="116743"/>
                  <a:pt x="754656" y="153462"/>
                  <a:pt x="771841" y="172669"/>
                </a:cubicBezTo>
                <a:cubicBezTo>
                  <a:pt x="784160" y="186438"/>
                  <a:pt x="799400" y="193837"/>
                  <a:pt x="822755" y="199392"/>
                </a:cubicBezTo>
                <a:cubicBezTo>
                  <a:pt x="842554" y="204100"/>
                  <a:pt x="869000" y="207640"/>
                  <a:pt x="878728" y="220981"/>
                </a:cubicBezTo>
                <a:cubicBezTo>
                  <a:pt x="900843" y="251307"/>
                  <a:pt x="843809" y="271235"/>
                  <a:pt x="804054" y="251627"/>
                </a:cubicBezTo>
                <a:cubicBezTo>
                  <a:pt x="798682" y="248979"/>
                  <a:pt x="793626" y="245606"/>
                  <a:pt x="789122" y="241439"/>
                </a:cubicBezTo>
                <a:cubicBezTo>
                  <a:pt x="767336" y="221284"/>
                  <a:pt x="730729" y="247256"/>
                  <a:pt x="770330" y="273190"/>
                </a:cubicBezTo>
                <a:close/>
                <a:moveTo>
                  <a:pt x="191993" y="235540"/>
                </a:moveTo>
                <a:cubicBezTo>
                  <a:pt x="192046" y="228129"/>
                  <a:pt x="192052" y="219948"/>
                  <a:pt x="191993" y="211786"/>
                </a:cubicBezTo>
                <a:lnTo>
                  <a:pt x="191993" y="200786"/>
                </a:lnTo>
                <a:lnTo>
                  <a:pt x="191805" y="196832"/>
                </a:lnTo>
                <a:cubicBezTo>
                  <a:pt x="191559" y="183799"/>
                  <a:pt x="191090" y="172189"/>
                  <a:pt x="190311" y="165668"/>
                </a:cubicBezTo>
                <a:cubicBezTo>
                  <a:pt x="190231" y="163999"/>
                  <a:pt x="190002" y="162388"/>
                  <a:pt x="189631" y="160856"/>
                </a:cubicBezTo>
                <a:cubicBezTo>
                  <a:pt x="183577" y="123479"/>
                  <a:pt x="160331" y="97864"/>
                  <a:pt x="126748" y="89879"/>
                </a:cubicBezTo>
                <a:cubicBezTo>
                  <a:pt x="107036" y="85193"/>
                  <a:pt x="81879" y="86859"/>
                  <a:pt x="60301" y="86859"/>
                </a:cubicBezTo>
                <a:cubicBezTo>
                  <a:pt x="51066" y="86859"/>
                  <a:pt x="28677" y="87283"/>
                  <a:pt x="17237" y="88723"/>
                </a:cubicBezTo>
                <a:cubicBezTo>
                  <a:pt x="17002" y="88751"/>
                  <a:pt x="16769" y="88779"/>
                  <a:pt x="16535" y="88814"/>
                </a:cubicBezTo>
                <a:lnTo>
                  <a:pt x="16495" y="88819"/>
                </a:lnTo>
                <a:lnTo>
                  <a:pt x="16484" y="88820"/>
                </a:lnTo>
                <a:cubicBezTo>
                  <a:pt x="16198" y="88859"/>
                  <a:pt x="15926" y="88908"/>
                  <a:pt x="15666" y="88967"/>
                </a:cubicBezTo>
                <a:cubicBezTo>
                  <a:pt x="6765" y="90727"/>
                  <a:pt x="0" y="98586"/>
                  <a:pt x="0" y="107947"/>
                </a:cubicBezTo>
                <a:lnTo>
                  <a:pt x="0" y="272844"/>
                </a:lnTo>
                <a:cubicBezTo>
                  <a:pt x="0" y="283485"/>
                  <a:pt x="8755" y="292192"/>
                  <a:pt x="19434" y="292192"/>
                </a:cubicBezTo>
                <a:lnTo>
                  <a:pt x="19434" y="292192"/>
                </a:lnTo>
                <a:cubicBezTo>
                  <a:pt x="30113" y="292192"/>
                  <a:pt x="38867" y="283476"/>
                  <a:pt x="38867" y="272844"/>
                </a:cubicBezTo>
                <a:lnTo>
                  <a:pt x="38867" y="243403"/>
                </a:lnTo>
                <a:cubicBezTo>
                  <a:pt x="39288" y="237513"/>
                  <a:pt x="39028" y="231118"/>
                  <a:pt x="38867" y="225117"/>
                </a:cubicBezTo>
                <a:lnTo>
                  <a:pt x="38867" y="171375"/>
                </a:lnTo>
                <a:cubicBezTo>
                  <a:pt x="41712" y="119366"/>
                  <a:pt x="93837" y="114762"/>
                  <a:pt x="120080" y="125356"/>
                </a:cubicBezTo>
                <a:cubicBezTo>
                  <a:pt x="135703" y="131662"/>
                  <a:pt x="146996" y="144106"/>
                  <a:pt x="151506" y="162882"/>
                </a:cubicBezTo>
                <a:cubicBezTo>
                  <a:pt x="152262" y="166034"/>
                  <a:pt x="152783" y="170053"/>
                  <a:pt x="153129" y="174664"/>
                </a:cubicBezTo>
                <a:lnTo>
                  <a:pt x="153129" y="232862"/>
                </a:lnTo>
                <a:cubicBezTo>
                  <a:pt x="153010" y="239954"/>
                  <a:pt x="152965" y="246528"/>
                  <a:pt x="153129" y="252033"/>
                </a:cubicBezTo>
                <a:lnTo>
                  <a:pt x="153129" y="272845"/>
                </a:lnTo>
                <a:cubicBezTo>
                  <a:pt x="153129" y="283485"/>
                  <a:pt x="161885" y="292192"/>
                  <a:pt x="172561" y="292192"/>
                </a:cubicBezTo>
                <a:lnTo>
                  <a:pt x="172563" y="292192"/>
                </a:lnTo>
                <a:cubicBezTo>
                  <a:pt x="183239" y="292192"/>
                  <a:pt x="191995" y="283475"/>
                  <a:pt x="191995" y="272845"/>
                </a:cubicBezTo>
                <a:lnTo>
                  <a:pt x="191995" y="235540"/>
                </a:lnTo>
                <a:close/>
                <a:moveTo>
                  <a:pt x="1308999" y="200609"/>
                </a:moveTo>
                <a:cubicBezTo>
                  <a:pt x="1304947" y="166754"/>
                  <a:pt x="1320139" y="137582"/>
                  <a:pt x="1350804" y="124985"/>
                </a:cubicBezTo>
                <a:cubicBezTo>
                  <a:pt x="1355933" y="122878"/>
                  <a:pt x="1358793" y="122044"/>
                  <a:pt x="1364566" y="121218"/>
                </a:cubicBezTo>
                <a:cubicBezTo>
                  <a:pt x="1385145" y="118267"/>
                  <a:pt x="1404637" y="125536"/>
                  <a:pt x="1415916" y="135530"/>
                </a:cubicBezTo>
                <a:cubicBezTo>
                  <a:pt x="1459768" y="174372"/>
                  <a:pt x="1441407" y="251097"/>
                  <a:pt x="1384925" y="258599"/>
                </a:cubicBezTo>
                <a:cubicBezTo>
                  <a:pt x="1344090" y="264023"/>
                  <a:pt x="1313280" y="236369"/>
                  <a:pt x="1308999" y="200609"/>
                </a:cubicBezTo>
                <a:close/>
                <a:moveTo>
                  <a:pt x="1294981" y="123802"/>
                </a:moveTo>
                <a:cubicBezTo>
                  <a:pt x="1279509" y="142476"/>
                  <a:pt x="1269031" y="170801"/>
                  <a:pt x="1272636" y="202370"/>
                </a:cubicBezTo>
                <a:cubicBezTo>
                  <a:pt x="1277089" y="241362"/>
                  <a:pt x="1302115" y="280302"/>
                  <a:pt x="1342351" y="289776"/>
                </a:cubicBezTo>
                <a:cubicBezTo>
                  <a:pt x="1354053" y="292532"/>
                  <a:pt x="1367648" y="292789"/>
                  <a:pt x="1387963" y="292789"/>
                </a:cubicBezTo>
                <a:cubicBezTo>
                  <a:pt x="1404752" y="292788"/>
                  <a:pt x="1421537" y="292789"/>
                  <a:pt x="1438326" y="292788"/>
                </a:cubicBezTo>
                <a:cubicBezTo>
                  <a:pt x="1455662" y="292788"/>
                  <a:pt x="1473273" y="295823"/>
                  <a:pt x="1476225" y="278569"/>
                </a:cubicBezTo>
                <a:cubicBezTo>
                  <a:pt x="1478568" y="264870"/>
                  <a:pt x="1477512" y="193132"/>
                  <a:pt x="1475850" y="177668"/>
                </a:cubicBezTo>
                <a:cubicBezTo>
                  <a:pt x="1472053" y="142368"/>
                  <a:pt x="1447773" y="108904"/>
                  <a:pt x="1414213" y="94330"/>
                </a:cubicBezTo>
                <a:cubicBezTo>
                  <a:pt x="1374163" y="76935"/>
                  <a:pt x="1322586" y="90478"/>
                  <a:pt x="1294982" y="123802"/>
                </a:cubicBezTo>
                <a:close/>
                <a:moveTo>
                  <a:pt x="280631" y="200609"/>
                </a:moveTo>
                <a:cubicBezTo>
                  <a:pt x="276579" y="166754"/>
                  <a:pt x="291771" y="137582"/>
                  <a:pt x="322436" y="124985"/>
                </a:cubicBezTo>
                <a:cubicBezTo>
                  <a:pt x="327565" y="122878"/>
                  <a:pt x="330425" y="122044"/>
                  <a:pt x="336198" y="121218"/>
                </a:cubicBezTo>
                <a:cubicBezTo>
                  <a:pt x="356777" y="118267"/>
                  <a:pt x="376269" y="125536"/>
                  <a:pt x="387548" y="135530"/>
                </a:cubicBezTo>
                <a:cubicBezTo>
                  <a:pt x="431400" y="174372"/>
                  <a:pt x="413039" y="251097"/>
                  <a:pt x="356557" y="258599"/>
                </a:cubicBezTo>
                <a:cubicBezTo>
                  <a:pt x="315722" y="264023"/>
                  <a:pt x="284912" y="236369"/>
                  <a:pt x="280631" y="200609"/>
                </a:cubicBezTo>
                <a:close/>
                <a:moveTo>
                  <a:pt x="266613" y="123802"/>
                </a:moveTo>
                <a:cubicBezTo>
                  <a:pt x="251141" y="142476"/>
                  <a:pt x="240663" y="170801"/>
                  <a:pt x="244268" y="202370"/>
                </a:cubicBezTo>
                <a:cubicBezTo>
                  <a:pt x="247791" y="233225"/>
                  <a:pt x="261409" y="257146"/>
                  <a:pt x="277989" y="270407"/>
                </a:cubicBezTo>
                <a:cubicBezTo>
                  <a:pt x="304625" y="291712"/>
                  <a:pt x="318056" y="292791"/>
                  <a:pt x="359597" y="292789"/>
                </a:cubicBezTo>
                <a:cubicBezTo>
                  <a:pt x="376385" y="292788"/>
                  <a:pt x="393171" y="292789"/>
                  <a:pt x="409959" y="292788"/>
                </a:cubicBezTo>
                <a:cubicBezTo>
                  <a:pt x="427295" y="292788"/>
                  <a:pt x="444906" y="295823"/>
                  <a:pt x="447859" y="278569"/>
                </a:cubicBezTo>
                <a:cubicBezTo>
                  <a:pt x="450201" y="264870"/>
                  <a:pt x="449145" y="193132"/>
                  <a:pt x="447483" y="177668"/>
                </a:cubicBezTo>
                <a:cubicBezTo>
                  <a:pt x="444039" y="145628"/>
                  <a:pt x="423716" y="115099"/>
                  <a:pt x="394896" y="98837"/>
                </a:cubicBezTo>
                <a:cubicBezTo>
                  <a:pt x="353399" y="75419"/>
                  <a:pt x="296641" y="87554"/>
                  <a:pt x="266614" y="123802"/>
                </a:cubicBezTo>
                <a:close/>
                <a:moveTo>
                  <a:pt x="672466" y="200609"/>
                </a:moveTo>
                <a:cubicBezTo>
                  <a:pt x="660451" y="288629"/>
                  <a:pt x="529325" y="274092"/>
                  <a:pt x="542141" y="178857"/>
                </a:cubicBezTo>
                <a:cubicBezTo>
                  <a:pt x="546793" y="144289"/>
                  <a:pt x="577204" y="114556"/>
                  <a:pt x="617943" y="121296"/>
                </a:cubicBezTo>
                <a:cubicBezTo>
                  <a:pt x="651702" y="126882"/>
                  <a:pt x="678086" y="159454"/>
                  <a:pt x="672468" y="200609"/>
                </a:cubicBezTo>
                <a:close/>
                <a:moveTo>
                  <a:pt x="524049" y="0"/>
                </a:moveTo>
                <a:lnTo>
                  <a:pt x="524051" y="0"/>
                </a:lnTo>
                <a:cubicBezTo>
                  <a:pt x="534475" y="0"/>
                  <a:pt x="543001" y="8487"/>
                  <a:pt x="543001" y="18867"/>
                </a:cubicBezTo>
                <a:lnTo>
                  <a:pt x="543001" y="19889"/>
                </a:lnTo>
                <a:cubicBezTo>
                  <a:pt x="544023" y="27735"/>
                  <a:pt x="543047" y="37149"/>
                  <a:pt x="543001" y="43973"/>
                </a:cubicBezTo>
                <a:lnTo>
                  <a:pt x="543001" y="50251"/>
                </a:lnTo>
                <a:lnTo>
                  <a:pt x="543001" y="52569"/>
                </a:lnTo>
                <a:cubicBezTo>
                  <a:pt x="543007" y="66869"/>
                  <a:pt x="543025" y="81171"/>
                  <a:pt x="543001" y="95469"/>
                </a:cubicBezTo>
                <a:lnTo>
                  <a:pt x="543001" y="118633"/>
                </a:lnTo>
                <a:cubicBezTo>
                  <a:pt x="546133" y="115307"/>
                  <a:pt x="560564" y="103988"/>
                  <a:pt x="566288" y="100559"/>
                </a:cubicBezTo>
                <a:cubicBezTo>
                  <a:pt x="570737" y="97894"/>
                  <a:pt x="575435" y="95526"/>
                  <a:pt x="580163" y="93570"/>
                </a:cubicBezTo>
                <a:cubicBezTo>
                  <a:pt x="596495" y="86816"/>
                  <a:pt x="615458" y="85573"/>
                  <a:pt x="634191" y="89071"/>
                </a:cubicBezTo>
                <a:cubicBezTo>
                  <a:pt x="729960" y="106959"/>
                  <a:pt x="745265" y="274443"/>
                  <a:pt x="617153" y="292337"/>
                </a:cubicBezTo>
                <a:cubicBezTo>
                  <a:pt x="602763" y="292776"/>
                  <a:pt x="522114" y="294233"/>
                  <a:pt x="514845" y="291004"/>
                </a:cubicBezTo>
                <a:cubicBezTo>
                  <a:pt x="501493" y="285071"/>
                  <a:pt x="505013" y="264937"/>
                  <a:pt x="505013" y="249318"/>
                </a:cubicBezTo>
                <a:lnTo>
                  <a:pt x="505013" y="45888"/>
                </a:lnTo>
                <a:cubicBezTo>
                  <a:pt x="505013" y="27924"/>
                  <a:pt x="504235" y="22410"/>
                  <a:pt x="505106" y="18390"/>
                </a:cubicBezTo>
                <a:cubicBezTo>
                  <a:pt x="505361" y="8227"/>
                  <a:pt x="513783" y="0"/>
                  <a:pt x="524048" y="0"/>
                </a:cubicBezTo>
                <a:close/>
                <a:moveTo>
                  <a:pt x="2193358" y="85236"/>
                </a:moveTo>
                <a:cubicBezTo>
                  <a:pt x="2251082" y="85236"/>
                  <a:pt x="2297877" y="131422"/>
                  <a:pt x="2297877" y="188395"/>
                </a:cubicBezTo>
                <a:cubicBezTo>
                  <a:pt x="2297877" y="245369"/>
                  <a:pt x="2251082" y="291553"/>
                  <a:pt x="2193358" y="291553"/>
                </a:cubicBezTo>
                <a:cubicBezTo>
                  <a:pt x="2135633" y="291553"/>
                  <a:pt x="2088839" y="245367"/>
                  <a:pt x="2088839" y="188395"/>
                </a:cubicBezTo>
                <a:cubicBezTo>
                  <a:pt x="2088839" y="131420"/>
                  <a:pt x="2135633" y="85236"/>
                  <a:pt x="2193358" y="85236"/>
                </a:cubicBezTo>
                <a:close/>
                <a:moveTo>
                  <a:pt x="2193358" y="118821"/>
                </a:moveTo>
                <a:cubicBezTo>
                  <a:pt x="2229795" y="118821"/>
                  <a:pt x="2259322" y="149969"/>
                  <a:pt x="2259322" y="188395"/>
                </a:cubicBezTo>
                <a:cubicBezTo>
                  <a:pt x="2259322" y="226819"/>
                  <a:pt x="2229795" y="257968"/>
                  <a:pt x="2193358" y="257968"/>
                </a:cubicBezTo>
                <a:cubicBezTo>
                  <a:pt x="2156936" y="257968"/>
                  <a:pt x="2127394" y="226821"/>
                  <a:pt x="2127394" y="188395"/>
                </a:cubicBezTo>
                <a:cubicBezTo>
                  <a:pt x="2127394" y="149970"/>
                  <a:pt x="2156936" y="118821"/>
                  <a:pt x="2193358" y="118821"/>
                </a:cubicBezTo>
                <a:close/>
                <a:moveTo>
                  <a:pt x="1783938" y="22704"/>
                </a:moveTo>
                <a:lnTo>
                  <a:pt x="1783938" y="22704"/>
                </a:lnTo>
                <a:cubicBezTo>
                  <a:pt x="1794342" y="22704"/>
                  <a:pt x="1802829" y="31177"/>
                  <a:pt x="1802829" y="41510"/>
                </a:cubicBezTo>
                <a:lnTo>
                  <a:pt x="1802829" y="47739"/>
                </a:lnTo>
                <a:cubicBezTo>
                  <a:pt x="1803432" y="55758"/>
                  <a:pt x="1803076" y="64821"/>
                  <a:pt x="1802829" y="73338"/>
                </a:cubicBezTo>
                <a:lnTo>
                  <a:pt x="1802829" y="89219"/>
                </a:lnTo>
                <a:cubicBezTo>
                  <a:pt x="1802953" y="91440"/>
                  <a:pt x="1803169" y="93504"/>
                  <a:pt x="1803494" y="95357"/>
                </a:cubicBezTo>
                <a:cubicBezTo>
                  <a:pt x="1821473" y="98081"/>
                  <a:pt x="1851541" y="88759"/>
                  <a:pt x="1851788" y="111798"/>
                </a:cubicBezTo>
                <a:cubicBezTo>
                  <a:pt x="1852051" y="134550"/>
                  <a:pt x="1821906" y="126301"/>
                  <a:pt x="1803432" y="128133"/>
                </a:cubicBezTo>
                <a:cubicBezTo>
                  <a:pt x="1803185" y="129749"/>
                  <a:pt x="1802984" y="133189"/>
                  <a:pt x="1802829" y="137859"/>
                </a:cubicBezTo>
                <a:lnTo>
                  <a:pt x="1802829" y="201802"/>
                </a:lnTo>
                <a:cubicBezTo>
                  <a:pt x="1802829" y="202464"/>
                  <a:pt x="1802798" y="203116"/>
                  <a:pt x="1802736" y="203763"/>
                </a:cubicBezTo>
                <a:cubicBezTo>
                  <a:pt x="1802999" y="216655"/>
                  <a:pt x="1803432" y="226794"/>
                  <a:pt x="1804035" y="229548"/>
                </a:cubicBezTo>
                <a:cubicBezTo>
                  <a:pt x="1811811" y="264836"/>
                  <a:pt x="1841662" y="247708"/>
                  <a:pt x="1853179" y="257894"/>
                </a:cubicBezTo>
                <a:cubicBezTo>
                  <a:pt x="1857694" y="261887"/>
                  <a:pt x="1861079" y="269233"/>
                  <a:pt x="1858992" y="276544"/>
                </a:cubicBezTo>
                <a:cubicBezTo>
                  <a:pt x="1854818" y="291658"/>
                  <a:pt x="1841492" y="292508"/>
                  <a:pt x="1823111" y="290661"/>
                </a:cubicBezTo>
                <a:cubicBezTo>
                  <a:pt x="1808966" y="289242"/>
                  <a:pt x="1798702" y="283242"/>
                  <a:pt x="1790091" y="276333"/>
                </a:cubicBezTo>
                <a:cubicBezTo>
                  <a:pt x="1772019" y="261837"/>
                  <a:pt x="1765588" y="238153"/>
                  <a:pt x="1765634" y="206413"/>
                </a:cubicBezTo>
                <a:cubicBezTo>
                  <a:pt x="1765248" y="204936"/>
                  <a:pt x="1765047" y="203390"/>
                  <a:pt x="1765047" y="201800"/>
                </a:cubicBezTo>
                <a:lnTo>
                  <a:pt x="1765047" y="41509"/>
                </a:lnTo>
                <a:cubicBezTo>
                  <a:pt x="1765047" y="31164"/>
                  <a:pt x="1773549" y="22702"/>
                  <a:pt x="1783938" y="22702"/>
                </a:cubicBezTo>
                <a:close/>
              </a:path>
            </a:pathLst>
          </a:custGeom>
          <a:solidFill>
            <a:srgbClr val="2B2A29"/>
          </a:solidFill>
          <a:ln w="154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432000" y="201960"/>
            <a:ext cx="90720" cy="685080"/>
          </a:xfrm>
          <a:prstGeom prst="rect">
            <a:avLst/>
          </a:prstGeom>
          <a:gradFill rotWithShape="0">
            <a:gsLst>
              <a:gs pos="0">
                <a:srgbClr val="FF3621"/>
              </a:gs>
              <a:gs pos="100000">
                <a:srgbClr val="2F2389"/>
              </a:gs>
            </a:gsLst>
            <a:lin ang="54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360" tIns="45000" rIns="4536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Speak Pro"/>
            </a:endParaRPr>
          </a:p>
        </p:txBody>
      </p:sp>
      <p:sp>
        <p:nvSpPr>
          <p:cNvPr id="7" name="Rectangle 9"/>
          <p:cNvSpPr/>
          <p:nvPr/>
        </p:nvSpPr>
        <p:spPr>
          <a:xfrm>
            <a:off x="464040" y="6307200"/>
            <a:ext cx="26640" cy="365040"/>
          </a:xfrm>
          <a:prstGeom prst="rect">
            <a:avLst/>
          </a:prstGeom>
          <a:gradFill rotWithShape="0">
            <a:gsLst>
              <a:gs pos="0">
                <a:srgbClr val="FF3621"/>
              </a:gs>
              <a:gs pos="100000">
                <a:srgbClr val="2F2389"/>
              </a:gs>
            </a:gsLst>
            <a:lin ang="54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3320" tIns="45000" rIns="1332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Speak Pro"/>
            </a:endParaRPr>
          </a:p>
        </p:txBody>
      </p:sp>
      <p:sp>
        <p:nvSpPr>
          <p:cNvPr id="8" name="Rectangle 10"/>
          <p:cNvSpPr/>
          <p:nvPr/>
        </p:nvSpPr>
        <p:spPr>
          <a:xfrm>
            <a:off x="11564280" y="6311520"/>
            <a:ext cx="26640" cy="365040"/>
          </a:xfrm>
          <a:prstGeom prst="rect">
            <a:avLst/>
          </a:prstGeom>
          <a:gradFill rotWithShape="0">
            <a:gsLst>
              <a:gs pos="0">
                <a:srgbClr val="FF3621"/>
              </a:gs>
              <a:gs pos="100000">
                <a:srgbClr val="2F2389"/>
              </a:gs>
            </a:gsLst>
            <a:lin ang="54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3320" tIns="45000" rIns="1332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Speak Pro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598680"/>
            <a:ext cx="10972080" cy="49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3600" b="1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AEA5B8-3692-4831-A45B-C5902A940100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6"/>
          <p:cNvSpPr/>
          <p:nvPr/>
        </p:nvSpPr>
        <p:spPr>
          <a:xfrm>
            <a:off x="584280" y="6105960"/>
            <a:ext cx="7228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uk-UA" sz="1060" b="1" u="none" strike="noStrike">
              <a:solidFill>
                <a:schemeClr val="accent2"/>
              </a:solidFill>
              <a:effectLst/>
              <a:uFillTx/>
              <a:latin typeface="Calibri"/>
            </a:endParaRPr>
          </a:p>
        </p:txBody>
      </p:sp>
      <p:sp>
        <p:nvSpPr>
          <p:cNvPr id="17" name="Freeform: Shape 7"/>
          <p:cNvSpPr/>
          <p:nvPr/>
        </p:nvSpPr>
        <p:spPr>
          <a:xfrm>
            <a:off x="601560" y="6402240"/>
            <a:ext cx="1200240" cy="153000"/>
          </a:xfrm>
          <a:custGeom>
            <a:avLst/>
            <a:gdLst>
              <a:gd name="textAreaLeft" fmla="*/ 0 w 1200240"/>
              <a:gd name="textAreaRight" fmla="*/ 1201320 w 1200240"/>
              <a:gd name="textAreaTop" fmla="*/ 0 h 153000"/>
              <a:gd name="textAreaBottom" fmla="*/ 154080 h 153000"/>
              <a:gd name="GluePoint1X" fmla="*/ 2017634 w 2297876"/>
              <a:gd name="GluePoint1Y" fmla="*/ 86119 h 294930"/>
              <a:gd name="GluePoint2X" fmla="*/ 2017634 w 2297876"/>
              <a:gd name="GluePoint2Y" fmla="*/ 86119 h 294930"/>
              <a:gd name="GluePoint3X" fmla="*/ 2037159 w 2297876"/>
              <a:gd name="GluePoint3Y" fmla="*/ 105557 h 294930"/>
              <a:gd name="GluePoint4X" fmla="*/ 2037159 w 2297876"/>
              <a:gd name="GluePoint4Y" fmla="*/ 271228 h 294930"/>
              <a:gd name="GluePoint5X" fmla="*/ 2017634 w 2297876"/>
              <a:gd name="GluePoint5Y" fmla="*/ 290665 h 294930"/>
              <a:gd name="GluePoint6X" fmla="*/ 2017634 w 2297876"/>
              <a:gd name="GluePoint6Y" fmla="*/ 290665 h 294930"/>
              <a:gd name="GluePoint7X" fmla="*/ 1998109 w 2297876"/>
              <a:gd name="GluePoint7Y" fmla="*/ 271228 h 294930"/>
              <a:gd name="GluePoint8X" fmla="*/ 1998109 w 2297876"/>
              <a:gd name="GluePoint8Y" fmla="*/ 105557 h 294930"/>
              <a:gd name="GluePoint9X" fmla="*/ 2017634 w 2297876"/>
              <a:gd name="GluePoint9Y" fmla="*/ 86119 h 294930"/>
              <a:gd name="GluePoint10X" fmla="*/ 1916856 w 2297876"/>
              <a:gd name="GluePoint10Y" fmla="*/ 248378 h 294930"/>
              <a:gd name="GluePoint11X" fmla="*/ 1940230 w 2297876"/>
              <a:gd name="GluePoint11Y" fmla="*/ 271654 h 294930"/>
              <a:gd name="GluePoint12X" fmla="*/ 1916856 w 2297876"/>
              <a:gd name="GluePoint12Y" fmla="*/ 294930 h 294930"/>
              <a:gd name="GluePoint13X" fmla="*/ 1893466 w 2297876"/>
              <a:gd name="GluePoint13Y" fmla="*/ 271654 h 294930"/>
              <a:gd name="GluePoint14X" fmla="*/ 1916856 w 2297876"/>
              <a:gd name="GluePoint14Y" fmla="*/ 248378 h 294930"/>
              <a:gd name="GluePoint15X" fmla="*/ 1153836 w 2297876"/>
              <a:gd name="GluePoint15Y" fmla="*/ 257682 h 294930"/>
              <a:gd name="GluePoint16X" fmla="*/ 1153853 w 2297876"/>
              <a:gd name="GluePoint16Y" fmla="*/ 256481 h 294930"/>
              <a:gd name="GluePoint17X" fmla="*/ 1153836 w 2297876"/>
              <a:gd name="GluePoint17Y" fmla="*/ 243386 h 294930"/>
              <a:gd name="GluePoint18X" fmla="*/ 1153836 w 2297876"/>
              <a:gd name="GluePoint18Y" fmla="*/ 242380 h 294930"/>
              <a:gd name="GluePoint19X" fmla="*/ 1153836 w 2297876"/>
              <a:gd name="GluePoint19Y" fmla="*/ 224247 h 294930"/>
              <a:gd name="GluePoint20X" fmla="*/ 1153836 w 2297876"/>
              <a:gd name="GluePoint20Y" fmla="*/ 223241 h 294930"/>
              <a:gd name="GluePoint21X" fmla="*/ 1153836 w 2297876"/>
              <a:gd name="GluePoint21Y" fmla="*/ 222232 h 294930"/>
              <a:gd name="GluePoint22X" fmla="*/ 1153836 w 2297876"/>
              <a:gd name="GluePoint22Y" fmla="*/ 221226 h 294930"/>
              <a:gd name="GluePoint23X" fmla="*/ 1153850 w 2297876"/>
              <a:gd name="GluePoint23Y" fmla="*/ 192013 h 294930"/>
              <a:gd name="GluePoint24X" fmla="*/ 1153836 w 2297876"/>
              <a:gd name="GluePoint24Y" fmla="*/ 189469 h 294930"/>
              <a:gd name="GluePoint25X" fmla="*/ 1153836 w 2297876"/>
              <a:gd name="GluePoint25Y" fmla="*/ 163010 h 294930"/>
              <a:gd name="GluePoint26X" fmla="*/ 1163846 w 2297876"/>
              <a:gd name="GluePoint26Y" fmla="*/ 137475 h 294930"/>
              <a:gd name="GluePoint27X" fmla="*/ 1228807 w 2297876"/>
              <a:gd name="GluePoint27Y" fmla="*/ 121204 h 294930"/>
              <a:gd name="GluePoint28X" fmla="*/ 1251963 w 2297876"/>
              <a:gd name="GluePoint28Y" fmla="*/ 119854 h 294930"/>
              <a:gd name="GluePoint29X" fmla="*/ 1257016 w 2297876"/>
              <a:gd name="GluePoint29Y" fmla="*/ 113707 h 294930"/>
              <a:gd name="GluePoint30X" fmla="*/ 1235102 w 2297876"/>
              <a:gd name="GluePoint30Y" fmla="*/ 88189 h 294930"/>
              <a:gd name="GluePoint31X" fmla="*/ 1206504 w 2297876"/>
              <a:gd name="GluePoint31Y" fmla="*/ 86712 h 294930"/>
              <a:gd name="GluePoint32X" fmla="*/ 1174123 w 2297876"/>
              <a:gd name="GluePoint32Y" fmla="*/ 97536 h 294930"/>
              <a:gd name="GluePoint33X" fmla="*/ 1153935 w 2297876"/>
              <a:gd name="GluePoint33Y" fmla="*/ 112645 h 294930"/>
              <a:gd name="GluePoint34X" fmla="*/ 1153838 w 2297876"/>
              <a:gd name="GluePoint34Y" fmla="*/ 109566 h 294930"/>
              <a:gd name="GluePoint35X" fmla="*/ 1153838 w 2297876"/>
              <a:gd name="GluePoint35Y" fmla="*/ 104937 h 294930"/>
              <a:gd name="GluePoint36X" fmla="*/ 1135180 w 2297876"/>
              <a:gd name="GluePoint36Y" fmla="*/ 86361 h 294930"/>
              <a:gd name="GluePoint37X" fmla="*/ 1135178 w 2297876"/>
              <a:gd name="GluePoint37Y" fmla="*/ 86361 h 294930"/>
              <a:gd name="GluePoint38X" fmla="*/ 1116521 w 2297876"/>
              <a:gd name="GluePoint38Y" fmla="*/ 104937 h 294930"/>
              <a:gd name="GluePoint39X" fmla="*/ 1116521 w 2297876"/>
              <a:gd name="GluePoint39Y" fmla="*/ 272590 h 294930"/>
              <a:gd name="GluePoint40X" fmla="*/ 1135178 w 2297876"/>
              <a:gd name="GluePoint40Y" fmla="*/ 291166 h 294930"/>
              <a:gd name="GluePoint41X" fmla="*/ 1135180 w 2297876"/>
              <a:gd name="GluePoint41Y" fmla="*/ 291166 h 294930"/>
              <a:gd name="GluePoint42X" fmla="*/ 1153838 w 2297876"/>
              <a:gd name="GluePoint42Y" fmla="*/ 272590 h 294930"/>
              <a:gd name="GluePoint43X" fmla="*/ 1153838 w 2297876"/>
              <a:gd name="GluePoint43Y" fmla="*/ 257680 h 294930"/>
              <a:gd name="GluePoint44X" fmla="*/ 1049470 w 2297876"/>
              <a:gd name="GluePoint44Y" fmla="*/ 254063 h 294930"/>
              <a:gd name="GluePoint45X" fmla="*/ 1015132 w 2297876"/>
              <a:gd name="GluePoint45Y" fmla="*/ 231272 h 294930"/>
              <a:gd name="GluePoint46X" fmla="*/ 1013815 w 2297876"/>
              <a:gd name="GluePoint46Y" fmla="*/ 128488 h 294930"/>
              <a:gd name="GluePoint47X" fmla="*/ 1044582 w 2297876"/>
              <a:gd name="GluePoint47Y" fmla="*/ 127851 h 294930"/>
              <a:gd name="GluePoint48X" fmla="*/ 1062528 w 2297876"/>
              <a:gd name="GluePoint48Y" fmla="*/ 111804 h 294930"/>
              <a:gd name="GluePoint49X" fmla="*/ 1013897 w 2297876"/>
              <a:gd name="GluePoint49Y" fmla="*/ 94994 h 294930"/>
              <a:gd name="GluePoint50X" fmla="*/ 1011742 w 2297876"/>
              <a:gd name="GluePoint50Y" fmla="*/ 34120 h 294930"/>
              <a:gd name="GluePoint51X" fmla="*/ 976359 w 2297876"/>
              <a:gd name="GluePoint51Y" fmla="*/ 44379 h 294930"/>
              <a:gd name="GluePoint52X" fmla="*/ 976399 w 2297876"/>
              <a:gd name="GluePoint52Y" fmla="*/ 171960 h 294930"/>
              <a:gd name="GluePoint53X" fmla="*/ 1000549 w 2297876"/>
              <a:gd name="GluePoint53Y" fmla="*/ 275919 h 294930"/>
              <a:gd name="GluePoint54X" fmla="*/ 1048918 w 2297876"/>
              <a:gd name="GluePoint54Y" fmla="*/ 291053 h 294930"/>
              <a:gd name="GluePoint55X" fmla="*/ 1068732 w 2297876"/>
              <a:gd name="GluePoint55Y" fmla="*/ 263309 h 294930"/>
              <a:gd name="GluePoint56X" fmla="*/ 1049467 w 2297876"/>
              <a:gd name="GluePoint56Y" fmla="*/ 254066 h 294930"/>
              <a:gd name="GluePoint57X" fmla="*/ 1654329 w 2297876"/>
              <a:gd name="GluePoint57Y" fmla="*/ 128121 h 294930"/>
              <a:gd name="GluePoint58X" fmla="*/ 1689575 w 2297876"/>
              <a:gd name="GluePoint58Y" fmla="*/ 145262 h 294930"/>
              <a:gd name="GluePoint59X" fmla="*/ 1698835 w 2297876"/>
              <a:gd name="GluePoint59Y" fmla="*/ 123700 h 294930"/>
              <a:gd name="GluePoint60X" fmla="*/ 1658781 w 2297876"/>
              <a:gd name="GluePoint60Y" fmla="*/ 93199 h 294930"/>
              <a:gd name="GluePoint61X" fmla="*/ 1549701 w 2297876"/>
              <a:gd name="GluePoint61Y" fmla="*/ 117759 h 294930"/>
              <a:gd name="GluePoint62X" fmla="*/ 1526955 w 2297876"/>
              <a:gd name="GluePoint62Y" fmla="*/ 218229 h 294930"/>
              <a:gd name="GluePoint63X" fmla="*/ 1665135 w 2297876"/>
              <a:gd name="GluePoint63Y" fmla="*/ 285491 h 294930"/>
              <a:gd name="GluePoint64X" fmla="*/ 1695203 w 2297876"/>
              <a:gd name="GluePoint64Y" fmla="*/ 250516 h 294930"/>
              <a:gd name="GluePoint65X" fmla="*/ 1649737 w 2297876"/>
              <a:gd name="GluePoint65Y" fmla="*/ 255747 h 294930"/>
              <a:gd name="GluePoint66X" fmla="*/ 1561868 w 2297876"/>
              <a:gd name="GluePoint66Y" fmla="*/ 209722 h 294930"/>
              <a:gd name="GluePoint67X" fmla="*/ 1574096 w 2297876"/>
              <a:gd name="GluePoint67Y" fmla="*/ 143864 h 294930"/>
              <a:gd name="GluePoint68X" fmla="*/ 1654329 w 2297876"/>
              <a:gd name="GluePoint68Y" fmla="*/ 128121 h 294930"/>
              <a:gd name="GluePoint69X" fmla="*/ 770332 w 2297876"/>
              <a:gd name="GluePoint69Y" fmla="*/ 273193 h 294930"/>
              <a:gd name="GluePoint70X" fmla="*/ 878598 w 2297876"/>
              <a:gd name="GluePoint70Y" fmla="*/ 286901 h 294930"/>
              <a:gd name="GluePoint71X" fmla="*/ 915815 w 2297876"/>
              <a:gd name="GluePoint71Y" fmla="*/ 209829 h 294930"/>
              <a:gd name="GluePoint72X" fmla="*/ 846916 w 2297876"/>
              <a:gd name="GluePoint72Y" fmla="*/ 172200 h 294930"/>
              <a:gd name="GluePoint73X" fmla="*/ 798045 w 2297876"/>
              <a:gd name="GluePoint73Y" fmla="*/ 143298 h 294930"/>
              <a:gd name="GluePoint74X" fmla="*/ 878904 w 2297876"/>
              <a:gd name="GluePoint74Y" fmla="*/ 133434 h 294930"/>
              <a:gd name="GluePoint75X" fmla="*/ 909300 w 2297876"/>
              <a:gd name="GluePoint75Y" fmla="*/ 114619 h 294930"/>
              <a:gd name="GluePoint76X" fmla="*/ 887198 w 2297876"/>
              <a:gd name="GluePoint76Y" fmla="*/ 97850 h 294930"/>
              <a:gd name="GluePoint77X" fmla="*/ 821264 w 2297876"/>
              <a:gd name="GluePoint77Y" fmla="*/ 88342 h 294930"/>
              <a:gd name="GluePoint78X" fmla="*/ 791342 w 2297876"/>
              <a:gd name="GluePoint78Y" fmla="*/ 97499 h 294930"/>
              <a:gd name="GluePoint79X" fmla="*/ 771841 w 2297876"/>
              <a:gd name="GluePoint79Y" fmla="*/ 172669 h 294930"/>
              <a:gd name="GluePoint80X" fmla="*/ 822755 w 2297876"/>
              <a:gd name="GluePoint80Y" fmla="*/ 199392 h 294930"/>
              <a:gd name="GluePoint81X" fmla="*/ 878728 w 2297876"/>
              <a:gd name="GluePoint81Y" fmla="*/ 220981 h 294930"/>
              <a:gd name="GluePoint82X" fmla="*/ 804054 w 2297876"/>
              <a:gd name="GluePoint82Y" fmla="*/ 251627 h 294930"/>
              <a:gd name="GluePoint83X" fmla="*/ 789122 w 2297876"/>
              <a:gd name="GluePoint83Y" fmla="*/ 241439 h 294930"/>
              <a:gd name="GluePoint84X" fmla="*/ 770330 w 2297876"/>
              <a:gd name="GluePoint84Y" fmla="*/ 273190 h 294930"/>
              <a:gd name="GluePoint85X" fmla="*/ 191993 w 2297876"/>
              <a:gd name="GluePoint85Y" fmla="*/ 235540 h 294930"/>
              <a:gd name="GluePoint86X" fmla="*/ 191993 w 2297876"/>
              <a:gd name="GluePoint86Y" fmla="*/ 211786 h 294930"/>
              <a:gd name="GluePoint87X" fmla="*/ 191993 w 2297876"/>
              <a:gd name="GluePoint87Y" fmla="*/ 200786 h 294930"/>
              <a:gd name="GluePoint88X" fmla="*/ 191805 w 2297876"/>
              <a:gd name="GluePoint88Y" fmla="*/ 196832 h 294930"/>
              <a:gd name="GluePoint89X" fmla="*/ 190311 w 2297876"/>
              <a:gd name="GluePoint89Y" fmla="*/ 165668 h 294930"/>
              <a:gd name="GluePoint90X" fmla="*/ 189631 w 2297876"/>
              <a:gd name="GluePoint90Y" fmla="*/ 160856 h 294930"/>
              <a:gd name="GluePoint91X" fmla="*/ 126748 w 2297876"/>
              <a:gd name="GluePoint91Y" fmla="*/ 89879 h 294930"/>
              <a:gd name="GluePoint92X" fmla="*/ 60301 w 2297876"/>
              <a:gd name="GluePoint92Y" fmla="*/ 86859 h 294930"/>
              <a:gd name="GluePoint93X" fmla="*/ 17237 w 2297876"/>
              <a:gd name="GluePoint93Y" fmla="*/ 88723 h 294930"/>
              <a:gd name="GluePoint94X" fmla="*/ 16535 w 2297876"/>
              <a:gd name="GluePoint94Y" fmla="*/ 88814 h 294930"/>
              <a:gd name="GluePoint95X" fmla="*/ 16495 w 2297876"/>
              <a:gd name="GluePoint95Y" fmla="*/ 88819 h 294930"/>
              <a:gd name="GluePoint96X" fmla="*/ 16484 w 2297876"/>
              <a:gd name="GluePoint96Y" fmla="*/ 88820 h 294930"/>
              <a:gd name="GluePoint97X" fmla="*/ 15666 w 2297876"/>
              <a:gd name="GluePoint97Y" fmla="*/ 88967 h 294930"/>
              <a:gd name="GluePoint98X" fmla="*/ 0 w 2297876"/>
              <a:gd name="GluePoint98Y" fmla="*/ 107947 h 294930"/>
              <a:gd name="GluePoint99X" fmla="*/ 0 w 2297876"/>
              <a:gd name="GluePoint99Y" fmla="*/ 272844 h 294930"/>
              <a:gd name="GluePoint100X" fmla="*/ 19434 w 2297876"/>
              <a:gd name="GluePoint100Y" fmla="*/ 292192 h 294930"/>
              <a:gd name="GluePoint101X" fmla="*/ 19434 w 2297876"/>
              <a:gd name="GluePoint101Y" fmla="*/ 292192 h 294930"/>
              <a:gd name="GluePoint102X" fmla="*/ 38867 w 2297876"/>
              <a:gd name="GluePoint102Y" fmla="*/ 272844 h 294930"/>
              <a:gd name="GluePoint103X" fmla="*/ 38867 w 2297876"/>
              <a:gd name="GluePoint103Y" fmla="*/ 243403 h 294930"/>
              <a:gd name="GluePoint104X" fmla="*/ 38867 w 2297876"/>
              <a:gd name="GluePoint104Y" fmla="*/ 225117 h 294930"/>
              <a:gd name="GluePoint105X" fmla="*/ 38867 w 2297876"/>
              <a:gd name="GluePoint105Y" fmla="*/ 171375 h 294930"/>
              <a:gd name="GluePoint106X" fmla="*/ 120080 w 2297876"/>
              <a:gd name="GluePoint106Y" fmla="*/ 125356 h 294930"/>
              <a:gd name="GluePoint107X" fmla="*/ 151506 w 2297876"/>
              <a:gd name="GluePoint107Y" fmla="*/ 162882 h 294930"/>
              <a:gd name="GluePoint108X" fmla="*/ 153129 w 2297876"/>
              <a:gd name="GluePoint108Y" fmla="*/ 174664 h 294930"/>
              <a:gd name="GluePoint109X" fmla="*/ 153129 w 2297876"/>
              <a:gd name="GluePoint109Y" fmla="*/ 232862 h 294930"/>
              <a:gd name="GluePoint110X" fmla="*/ 153129 w 2297876"/>
              <a:gd name="GluePoint110Y" fmla="*/ 252033 h 294930"/>
              <a:gd name="GluePoint111X" fmla="*/ 153129 w 2297876"/>
              <a:gd name="GluePoint111Y" fmla="*/ 272845 h 294930"/>
              <a:gd name="GluePoint112X" fmla="*/ 172561 w 2297876"/>
              <a:gd name="GluePoint112Y" fmla="*/ 292192 h 294930"/>
              <a:gd name="GluePoint113X" fmla="*/ 172563 w 2297876"/>
              <a:gd name="GluePoint113Y" fmla="*/ 292192 h 294930"/>
              <a:gd name="GluePoint114X" fmla="*/ 191995 w 2297876"/>
              <a:gd name="GluePoint114Y" fmla="*/ 272845 h 294930"/>
              <a:gd name="GluePoint115X" fmla="*/ 191995 w 2297876"/>
              <a:gd name="GluePoint115Y" fmla="*/ 235540 h 294930"/>
              <a:gd name="GluePoint116X" fmla="*/ 1308999 w 2297876"/>
              <a:gd name="GluePoint116Y" fmla="*/ 200609 h 294930"/>
              <a:gd name="GluePoint117X" fmla="*/ 1350804 w 2297876"/>
              <a:gd name="GluePoint117Y" fmla="*/ 124985 h 294930"/>
              <a:gd name="GluePoint118X" fmla="*/ 1364566 w 2297876"/>
              <a:gd name="GluePoint118Y" fmla="*/ 121218 h 294930"/>
              <a:gd name="GluePoint119X" fmla="*/ 1415916 w 2297876"/>
              <a:gd name="GluePoint119Y" fmla="*/ 135530 h 294930"/>
              <a:gd name="GluePoint120X" fmla="*/ 1384925 w 2297876"/>
              <a:gd name="GluePoint120Y" fmla="*/ 258599 h 294930"/>
              <a:gd name="GluePoint121X" fmla="*/ 1308999 w 2297876"/>
              <a:gd name="GluePoint121Y" fmla="*/ 200609 h 294930"/>
              <a:gd name="GluePoint122X" fmla="*/ 1294981 w 2297876"/>
              <a:gd name="GluePoint122Y" fmla="*/ 123802 h 294930"/>
              <a:gd name="GluePoint123X" fmla="*/ 1272636 w 2297876"/>
              <a:gd name="GluePoint123Y" fmla="*/ 202370 h 294930"/>
              <a:gd name="GluePoint124X" fmla="*/ 1342351 w 2297876"/>
              <a:gd name="GluePoint124Y" fmla="*/ 289776 h 294930"/>
              <a:gd name="GluePoint125X" fmla="*/ 1387963 w 2297876"/>
              <a:gd name="GluePoint125Y" fmla="*/ 292789 h 294930"/>
              <a:gd name="GluePoint126X" fmla="*/ 1438326 w 2297876"/>
              <a:gd name="GluePoint126Y" fmla="*/ 292788 h 294930"/>
              <a:gd name="GluePoint127X" fmla="*/ 1476225 w 2297876"/>
              <a:gd name="GluePoint127Y" fmla="*/ 278569 h 294930"/>
              <a:gd name="GluePoint128X" fmla="*/ 1475850 w 2297876"/>
              <a:gd name="GluePoint128Y" fmla="*/ 177668 h 294930"/>
              <a:gd name="GluePoint129X" fmla="*/ 1414213 w 2297876"/>
              <a:gd name="GluePoint129Y" fmla="*/ 94330 h 294930"/>
              <a:gd name="GluePoint130X" fmla="*/ 1294982 w 2297876"/>
              <a:gd name="GluePoint130Y" fmla="*/ 123802 h 294930"/>
              <a:gd name="GluePoint131X" fmla="*/ 280631 w 2297876"/>
              <a:gd name="GluePoint131Y" fmla="*/ 200609 h 294930"/>
              <a:gd name="GluePoint132X" fmla="*/ 322436 w 2297876"/>
              <a:gd name="GluePoint132Y" fmla="*/ 124985 h 294930"/>
              <a:gd name="GluePoint133X" fmla="*/ 336198 w 2297876"/>
              <a:gd name="GluePoint133Y" fmla="*/ 121218 h 294930"/>
              <a:gd name="GluePoint134X" fmla="*/ 387548 w 2297876"/>
              <a:gd name="GluePoint134Y" fmla="*/ 135530 h 294930"/>
              <a:gd name="GluePoint135X" fmla="*/ 356557 w 2297876"/>
              <a:gd name="GluePoint135Y" fmla="*/ 258599 h 294930"/>
              <a:gd name="GluePoint136X" fmla="*/ 280631 w 2297876"/>
              <a:gd name="GluePoint136Y" fmla="*/ 200609 h 294930"/>
              <a:gd name="GluePoint137X" fmla="*/ 266613 w 2297876"/>
              <a:gd name="GluePoint137Y" fmla="*/ 123802 h 294930"/>
              <a:gd name="GluePoint138X" fmla="*/ 244268 w 2297876"/>
              <a:gd name="GluePoint138Y" fmla="*/ 202370 h 294930"/>
              <a:gd name="GluePoint139X" fmla="*/ 277989 w 2297876"/>
              <a:gd name="GluePoint139Y" fmla="*/ 270407 h 294930"/>
              <a:gd name="GluePoint140X" fmla="*/ 359597 w 2297876"/>
              <a:gd name="GluePoint140Y" fmla="*/ 292789 h 294930"/>
              <a:gd name="GluePoint141X" fmla="*/ 409959 w 2297876"/>
              <a:gd name="GluePoint141Y" fmla="*/ 292788 h 294930"/>
              <a:gd name="GluePoint142X" fmla="*/ 447859 w 2297876"/>
              <a:gd name="GluePoint142Y" fmla="*/ 278569 h 294930"/>
              <a:gd name="GluePoint143X" fmla="*/ 447483 w 2297876"/>
              <a:gd name="GluePoint143Y" fmla="*/ 177668 h 294930"/>
              <a:gd name="GluePoint144X" fmla="*/ 394896 w 2297876"/>
              <a:gd name="GluePoint144Y" fmla="*/ 98837 h 294930"/>
              <a:gd name="GluePoint145X" fmla="*/ 266614 w 2297876"/>
              <a:gd name="GluePoint145Y" fmla="*/ 123802 h 294930"/>
              <a:gd name="GluePoint146X" fmla="*/ 672466 w 2297876"/>
              <a:gd name="GluePoint146Y" fmla="*/ 200609 h 294930"/>
              <a:gd name="GluePoint147X" fmla="*/ 542141 w 2297876"/>
              <a:gd name="GluePoint147Y" fmla="*/ 178857 h 294930"/>
              <a:gd name="GluePoint148X" fmla="*/ 617943 w 2297876"/>
              <a:gd name="GluePoint148Y" fmla="*/ 121296 h 294930"/>
              <a:gd name="GluePoint149X" fmla="*/ 672468 w 2297876"/>
              <a:gd name="GluePoint149Y" fmla="*/ 200609 h 294930"/>
              <a:gd name="GluePoint150X" fmla="*/ 524049 w 2297876"/>
              <a:gd name="GluePoint150Y" fmla="*/ 0 h 294930"/>
              <a:gd name="GluePoint151X" fmla="*/ 524051 w 2297876"/>
              <a:gd name="GluePoint151Y" fmla="*/ 0 h 294930"/>
              <a:gd name="GluePoint152X" fmla="*/ 543001 w 2297876"/>
              <a:gd name="GluePoint152Y" fmla="*/ 18867 h 294930"/>
              <a:gd name="GluePoint153X" fmla="*/ 543001 w 2297876"/>
              <a:gd name="GluePoint153Y" fmla="*/ 19889 h 294930"/>
              <a:gd name="GluePoint154X" fmla="*/ 543001 w 2297876"/>
              <a:gd name="GluePoint154Y" fmla="*/ 43973 h 294930"/>
              <a:gd name="GluePoint155X" fmla="*/ 543001 w 2297876"/>
              <a:gd name="GluePoint155Y" fmla="*/ 50251 h 294930"/>
              <a:gd name="GluePoint156X" fmla="*/ 543001 w 2297876"/>
              <a:gd name="GluePoint156Y" fmla="*/ 52569 h 294930"/>
              <a:gd name="GluePoint157X" fmla="*/ 543001 w 2297876"/>
              <a:gd name="GluePoint157Y" fmla="*/ 95469 h 294930"/>
              <a:gd name="GluePoint158X" fmla="*/ 543001 w 2297876"/>
              <a:gd name="GluePoint158Y" fmla="*/ 118633 h 294930"/>
              <a:gd name="GluePoint159X" fmla="*/ 566288 w 2297876"/>
              <a:gd name="GluePoint159Y" fmla="*/ 100559 h 294930"/>
              <a:gd name="GluePoint160X" fmla="*/ 580163 w 2297876"/>
              <a:gd name="GluePoint160Y" fmla="*/ 93570 h 294930"/>
              <a:gd name="GluePoint161X" fmla="*/ 634191 w 2297876"/>
              <a:gd name="GluePoint161Y" fmla="*/ 89071 h 294930"/>
              <a:gd name="GluePoint162X" fmla="*/ 617153 w 2297876"/>
              <a:gd name="GluePoint162Y" fmla="*/ 292337 h 294930"/>
              <a:gd name="GluePoint163X" fmla="*/ 514845 w 2297876"/>
              <a:gd name="GluePoint163Y" fmla="*/ 291004 h 294930"/>
              <a:gd name="GluePoint164X" fmla="*/ 505013 w 2297876"/>
              <a:gd name="GluePoint164Y" fmla="*/ 249318 h 294930"/>
              <a:gd name="GluePoint165X" fmla="*/ 505013 w 2297876"/>
              <a:gd name="GluePoint165Y" fmla="*/ 45888 h 294930"/>
              <a:gd name="GluePoint166X" fmla="*/ 505106 w 2297876"/>
              <a:gd name="GluePoint166Y" fmla="*/ 18390 h 294930"/>
              <a:gd name="GluePoint167X" fmla="*/ 524048 w 2297876"/>
              <a:gd name="GluePoint167Y" fmla="*/ 0 h 294930"/>
              <a:gd name="GluePoint168X" fmla="*/ 2193358 w 2297876"/>
              <a:gd name="GluePoint168Y" fmla="*/ 85236 h 294930"/>
              <a:gd name="GluePoint169X" fmla="*/ 2297877 w 2297876"/>
              <a:gd name="GluePoint169Y" fmla="*/ 188395 h 294930"/>
              <a:gd name="GluePoint170X" fmla="*/ 2193358 w 2297876"/>
              <a:gd name="GluePoint170Y" fmla="*/ 291553 h 294930"/>
              <a:gd name="GluePoint171X" fmla="*/ 2088839 w 2297876"/>
              <a:gd name="GluePoint171Y" fmla="*/ 188395 h 294930"/>
              <a:gd name="GluePoint172X" fmla="*/ 2193358 w 2297876"/>
              <a:gd name="GluePoint172Y" fmla="*/ 85236 h 294930"/>
              <a:gd name="GluePoint173X" fmla="*/ 2193358 w 2297876"/>
              <a:gd name="GluePoint173Y" fmla="*/ 118821 h 294930"/>
              <a:gd name="GluePoint174X" fmla="*/ 2259322 w 2297876"/>
              <a:gd name="GluePoint174Y" fmla="*/ 188395 h 294930"/>
              <a:gd name="GluePoint175X" fmla="*/ 2193358 w 2297876"/>
              <a:gd name="GluePoint175Y" fmla="*/ 257968 h 294930"/>
              <a:gd name="GluePoint176X" fmla="*/ 2127394 w 2297876"/>
              <a:gd name="GluePoint176Y" fmla="*/ 188395 h 294930"/>
              <a:gd name="GluePoint177X" fmla="*/ 2193358 w 2297876"/>
              <a:gd name="GluePoint177Y" fmla="*/ 118821 h 294930"/>
              <a:gd name="GluePoint178X" fmla="*/ 1783938 w 2297876"/>
              <a:gd name="GluePoint178Y" fmla="*/ 22704 h 294930"/>
              <a:gd name="GluePoint179X" fmla="*/ 1783938 w 2297876"/>
              <a:gd name="GluePoint179Y" fmla="*/ 22704 h 294930"/>
              <a:gd name="GluePoint180X" fmla="*/ 1802829 w 2297876"/>
              <a:gd name="GluePoint180Y" fmla="*/ 41510 h 294930"/>
              <a:gd name="GluePoint181X" fmla="*/ 1802829 w 2297876"/>
              <a:gd name="GluePoint181Y" fmla="*/ 47739 h 294930"/>
              <a:gd name="GluePoint182X" fmla="*/ 1802829 w 2297876"/>
              <a:gd name="GluePoint182Y" fmla="*/ 73338 h 294930"/>
              <a:gd name="GluePoint183X" fmla="*/ 1802829 w 2297876"/>
              <a:gd name="GluePoint183Y" fmla="*/ 89219 h 294930"/>
              <a:gd name="GluePoint184X" fmla="*/ 1803494 w 2297876"/>
              <a:gd name="GluePoint184Y" fmla="*/ 95357 h 294930"/>
              <a:gd name="GluePoint185X" fmla="*/ 1851788 w 2297876"/>
              <a:gd name="GluePoint185Y" fmla="*/ 111798 h 294930"/>
              <a:gd name="GluePoint186X" fmla="*/ 1803432 w 2297876"/>
              <a:gd name="GluePoint186Y" fmla="*/ 128133 h 294930"/>
              <a:gd name="GluePoint187X" fmla="*/ 1802829 w 2297876"/>
              <a:gd name="GluePoint187Y" fmla="*/ 137859 h 294930"/>
              <a:gd name="GluePoint188X" fmla="*/ 1802829 w 2297876"/>
              <a:gd name="GluePoint188Y" fmla="*/ 201802 h 294930"/>
              <a:gd name="GluePoint189X" fmla="*/ 1802736 w 2297876"/>
              <a:gd name="GluePoint189Y" fmla="*/ 203763 h 294930"/>
              <a:gd name="GluePoint190X" fmla="*/ 1804035 w 2297876"/>
              <a:gd name="GluePoint190Y" fmla="*/ 229548 h 294930"/>
              <a:gd name="GluePoint191X" fmla="*/ 1853179 w 2297876"/>
              <a:gd name="GluePoint191Y" fmla="*/ 257894 h 294930"/>
              <a:gd name="GluePoint192X" fmla="*/ 1858992 w 2297876"/>
              <a:gd name="GluePoint192Y" fmla="*/ 276544 h 294930"/>
              <a:gd name="GluePoint193X" fmla="*/ 1823111 w 2297876"/>
              <a:gd name="GluePoint193Y" fmla="*/ 290661 h 294930"/>
              <a:gd name="GluePoint194X" fmla="*/ 1790091 w 2297876"/>
              <a:gd name="GluePoint194Y" fmla="*/ 276333 h 294930"/>
              <a:gd name="GluePoint195X" fmla="*/ 1765634 w 2297876"/>
              <a:gd name="GluePoint195Y" fmla="*/ 206413 h 294930"/>
              <a:gd name="GluePoint196X" fmla="*/ 1765047 w 2297876"/>
              <a:gd name="GluePoint196Y" fmla="*/ 201800 h 294930"/>
              <a:gd name="GluePoint197X" fmla="*/ 1765047 w 2297876"/>
              <a:gd name="GluePoint197Y" fmla="*/ 41509 h 294930"/>
              <a:gd name="GluePoint198X" fmla="*/ 1783938 w 2297876"/>
              <a:gd name="GluePoint198Y" fmla="*/ 22702 h 29493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  <a:cxn ang="0">
                <a:pos x="GluePoint103X" y="GluePoint103Y"/>
              </a:cxn>
              <a:cxn ang="0">
                <a:pos x="GluePoint104X" y="GluePoint104Y"/>
              </a:cxn>
              <a:cxn ang="0">
                <a:pos x="GluePoint105X" y="GluePoint105Y"/>
              </a:cxn>
              <a:cxn ang="0">
                <a:pos x="GluePoint106X" y="GluePoint106Y"/>
              </a:cxn>
              <a:cxn ang="0">
                <a:pos x="GluePoint107X" y="GluePoint107Y"/>
              </a:cxn>
              <a:cxn ang="0">
                <a:pos x="GluePoint108X" y="GluePoint108Y"/>
              </a:cxn>
              <a:cxn ang="0">
                <a:pos x="GluePoint109X" y="GluePoint109Y"/>
              </a:cxn>
              <a:cxn ang="0">
                <a:pos x="GluePoint110X" y="GluePoint110Y"/>
              </a:cxn>
              <a:cxn ang="0">
                <a:pos x="GluePoint111X" y="GluePoint111Y"/>
              </a:cxn>
              <a:cxn ang="0">
                <a:pos x="GluePoint112X" y="GluePoint112Y"/>
              </a:cxn>
              <a:cxn ang="0">
                <a:pos x="GluePoint113X" y="GluePoint113Y"/>
              </a:cxn>
              <a:cxn ang="0">
                <a:pos x="GluePoint114X" y="GluePoint114Y"/>
              </a:cxn>
              <a:cxn ang="0">
                <a:pos x="GluePoint115X" y="GluePoint115Y"/>
              </a:cxn>
              <a:cxn ang="0">
                <a:pos x="GluePoint116X" y="GluePoint116Y"/>
              </a:cxn>
              <a:cxn ang="0">
                <a:pos x="GluePoint117X" y="GluePoint117Y"/>
              </a:cxn>
              <a:cxn ang="0">
                <a:pos x="GluePoint118X" y="GluePoint118Y"/>
              </a:cxn>
              <a:cxn ang="0">
                <a:pos x="GluePoint119X" y="GluePoint119Y"/>
              </a:cxn>
              <a:cxn ang="0">
                <a:pos x="GluePoint120X" y="GluePoint120Y"/>
              </a:cxn>
              <a:cxn ang="0">
                <a:pos x="GluePoint121X" y="GluePoint121Y"/>
              </a:cxn>
              <a:cxn ang="0">
                <a:pos x="GluePoint122X" y="GluePoint122Y"/>
              </a:cxn>
              <a:cxn ang="0">
                <a:pos x="GluePoint123X" y="GluePoint123Y"/>
              </a:cxn>
              <a:cxn ang="0">
                <a:pos x="GluePoint124X" y="GluePoint124Y"/>
              </a:cxn>
              <a:cxn ang="0">
                <a:pos x="GluePoint125X" y="GluePoint125Y"/>
              </a:cxn>
              <a:cxn ang="0">
                <a:pos x="GluePoint126X" y="GluePoint126Y"/>
              </a:cxn>
              <a:cxn ang="0">
                <a:pos x="GluePoint127X" y="GluePoint127Y"/>
              </a:cxn>
              <a:cxn ang="0">
                <a:pos x="GluePoint128X" y="GluePoint128Y"/>
              </a:cxn>
              <a:cxn ang="0">
                <a:pos x="GluePoint129X" y="GluePoint129Y"/>
              </a:cxn>
              <a:cxn ang="0">
                <a:pos x="GluePoint130X" y="GluePoint130Y"/>
              </a:cxn>
              <a:cxn ang="0">
                <a:pos x="GluePoint131X" y="GluePoint131Y"/>
              </a:cxn>
              <a:cxn ang="0">
                <a:pos x="GluePoint132X" y="GluePoint132Y"/>
              </a:cxn>
              <a:cxn ang="0">
                <a:pos x="GluePoint133X" y="GluePoint133Y"/>
              </a:cxn>
              <a:cxn ang="0">
                <a:pos x="GluePoint134X" y="GluePoint134Y"/>
              </a:cxn>
              <a:cxn ang="0">
                <a:pos x="GluePoint135X" y="GluePoint135Y"/>
              </a:cxn>
              <a:cxn ang="0">
                <a:pos x="GluePoint136X" y="GluePoint136Y"/>
              </a:cxn>
              <a:cxn ang="0">
                <a:pos x="GluePoint137X" y="GluePoint137Y"/>
              </a:cxn>
              <a:cxn ang="0">
                <a:pos x="GluePoint138X" y="GluePoint138Y"/>
              </a:cxn>
              <a:cxn ang="0">
                <a:pos x="GluePoint139X" y="GluePoint139Y"/>
              </a:cxn>
              <a:cxn ang="0">
                <a:pos x="GluePoint140X" y="GluePoint140Y"/>
              </a:cxn>
              <a:cxn ang="0">
                <a:pos x="GluePoint141X" y="GluePoint141Y"/>
              </a:cxn>
              <a:cxn ang="0">
                <a:pos x="GluePoint142X" y="GluePoint142Y"/>
              </a:cxn>
              <a:cxn ang="0">
                <a:pos x="GluePoint143X" y="GluePoint143Y"/>
              </a:cxn>
              <a:cxn ang="0">
                <a:pos x="GluePoint144X" y="GluePoint144Y"/>
              </a:cxn>
              <a:cxn ang="0">
                <a:pos x="GluePoint145X" y="GluePoint145Y"/>
              </a:cxn>
              <a:cxn ang="0">
                <a:pos x="GluePoint146X" y="GluePoint146Y"/>
              </a:cxn>
              <a:cxn ang="0">
                <a:pos x="GluePoint147X" y="GluePoint147Y"/>
              </a:cxn>
              <a:cxn ang="0">
                <a:pos x="GluePoint148X" y="GluePoint148Y"/>
              </a:cxn>
              <a:cxn ang="0">
                <a:pos x="GluePoint149X" y="GluePoint149Y"/>
              </a:cxn>
              <a:cxn ang="0">
                <a:pos x="GluePoint150X" y="GluePoint150Y"/>
              </a:cxn>
              <a:cxn ang="0">
                <a:pos x="GluePoint151X" y="GluePoint151Y"/>
              </a:cxn>
              <a:cxn ang="0">
                <a:pos x="GluePoint152X" y="GluePoint152Y"/>
              </a:cxn>
              <a:cxn ang="0">
                <a:pos x="GluePoint153X" y="GluePoint153Y"/>
              </a:cxn>
              <a:cxn ang="0">
                <a:pos x="GluePoint154X" y="GluePoint154Y"/>
              </a:cxn>
              <a:cxn ang="0">
                <a:pos x="GluePoint155X" y="GluePoint155Y"/>
              </a:cxn>
              <a:cxn ang="0">
                <a:pos x="GluePoint156X" y="GluePoint156Y"/>
              </a:cxn>
              <a:cxn ang="0">
                <a:pos x="GluePoint157X" y="GluePoint157Y"/>
              </a:cxn>
              <a:cxn ang="0">
                <a:pos x="GluePoint158X" y="GluePoint158Y"/>
              </a:cxn>
              <a:cxn ang="0">
                <a:pos x="GluePoint159X" y="GluePoint159Y"/>
              </a:cxn>
              <a:cxn ang="0">
                <a:pos x="GluePoint160X" y="GluePoint160Y"/>
              </a:cxn>
              <a:cxn ang="0">
                <a:pos x="GluePoint161X" y="GluePoint161Y"/>
              </a:cxn>
              <a:cxn ang="0">
                <a:pos x="GluePoint162X" y="GluePoint162Y"/>
              </a:cxn>
              <a:cxn ang="0">
                <a:pos x="GluePoint163X" y="GluePoint163Y"/>
              </a:cxn>
              <a:cxn ang="0">
                <a:pos x="GluePoint164X" y="GluePoint164Y"/>
              </a:cxn>
              <a:cxn ang="0">
                <a:pos x="GluePoint165X" y="GluePoint165Y"/>
              </a:cxn>
              <a:cxn ang="0">
                <a:pos x="GluePoint166X" y="GluePoint166Y"/>
              </a:cxn>
              <a:cxn ang="0">
                <a:pos x="GluePoint167X" y="GluePoint167Y"/>
              </a:cxn>
              <a:cxn ang="0">
                <a:pos x="GluePoint168X" y="GluePoint168Y"/>
              </a:cxn>
              <a:cxn ang="0">
                <a:pos x="GluePoint169X" y="GluePoint169Y"/>
              </a:cxn>
              <a:cxn ang="0">
                <a:pos x="GluePoint170X" y="GluePoint170Y"/>
              </a:cxn>
              <a:cxn ang="0">
                <a:pos x="GluePoint171X" y="GluePoint171Y"/>
              </a:cxn>
              <a:cxn ang="0">
                <a:pos x="GluePoint172X" y="GluePoint172Y"/>
              </a:cxn>
              <a:cxn ang="0">
                <a:pos x="GluePoint173X" y="GluePoint173Y"/>
              </a:cxn>
              <a:cxn ang="0">
                <a:pos x="GluePoint174X" y="GluePoint174Y"/>
              </a:cxn>
              <a:cxn ang="0">
                <a:pos x="GluePoint175X" y="GluePoint175Y"/>
              </a:cxn>
              <a:cxn ang="0">
                <a:pos x="GluePoint176X" y="GluePoint176Y"/>
              </a:cxn>
              <a:cxn ang="0">
                <a:pos x="GluePoint177X" y="GluePoint177Y"/>
              </a:cxn>
              <a:cxn ang="0">
                <a:pos x="GluePoint178X" y="GluePoint178Y"/>
              </a:cxn>
              <a:cxn ang="0">
                <a:pos x="GluePoint179X" y="GluePoint179Y"/>
              </a:cxn>
              <a:cxn ang="0">
                <a:pos x="GluePoint180X" y="GluePoint180Y"/>
              </a:cxn>
              <a:cxn ang="0">
                <a:pos x="GluePoint181X" y="GluePoint181Y"/>
              </a:cxn>
              <a:cxn ang="0">
                <a:pos x="GluePoint182X" y="GluePoint182Y"/>
              </a:cxn>
              <a:cxn ang="0">
                <a:pos x="GluePoint183X" y="GluePoint183Y"/>
              </a:cxn>
              <a:cxn ang="0">
                <a:pos x="GluePoint184X" y="GluePoint184Y"/>
              </a:cxn>
              <a:cxn ang="0">
                <a:pos x="GluePoint185X" y="GluePoint185Y"/>
              </a:cxn>
              <a:cxn ang="0">
                <a:pos x="GluePoint186X" y="GluePoint186Y"/>
              </a:cxn>
              <a:cxn ang="0">
                <a:pos x="GluePoint187X" y="GluePoint187Y"/>
              </a:cxn>
              <a:cxn ang="0">
                <a:pos x="GluePoint188X" y="GluePoint188Y"/>
              </a:cxn>
              <a:cxn ang="0">
                <a:pos x="GluePoint189X" y="GluePoint189Y"/>
              </a:cxn>
              <a:cxn ang="0">
                <a:pos x="GluePoint190X" y="GluePoint190Y"/>
              </a:cxn>
              <a:cxn ang="0">
                <a:pos x="GluePoint191X" y="GluePoint191Y"/>
              </a:cxn>
              <a:cxn ang="0">
                <a:pos x="GluePoint192X" y="GluePoint192Y"/>
              </a:cxn>
              <a:cxn ang="0">
                <a:pos x="GluePoint193X" y="GluePoint193Y"/>
              </a:cxn>
              <a:cxn ang="0">
                <a:pos x="GluePoint194X" y="GluePoint194Y"/>
              </a:cxn>
              <a:cxn ang="0">
                <a:pos x="GluePoint195X" y="GluePoint195Y"/>
              </a:cxn>
              <a:cxn ang="0">
                <a:pos x="GluePoint196X" y="GluePoint196Y"/>
              </a:cxn>
              <a:cxn ang="0">
                <a:pos x="GluePoint197X" y="GluePoint197Y"/>
              </a:cxn>
              <a:cxn ang="0">
                <a:pos x="GluePoint198X" y="GluePoint198Y"/>
              </a:cxn>
            </a:cxnLst>
            <a:rect l="textAreaLeft" t="textAreaTop" r="textAreaRight" b="textAreaBottom"/>
            <a:pathLst>
              <a:path w="2297876" h="294930">
                <a:moveTo>
                  <a:pt x="2017634" y="86119"/>
                </a:moveTo>
                <a:lnTo>
                  <a:pt x="2017634" y="86119"/>
                </a:lnTo>
                <a:cubicBezTo>
                  <a:pt x="2028362" y="86119"/>
                  <a:pt x="2037159" y="94877"/>
                  <a:pt x="2037159" y="105557"/>
                </a:cubicBezTo>
                <a:lnTo>
                  <a:pt x="2037159" y="271228"/>
                </a:lnTo>
                <a:cubicBezTo>
                  <a:pt x="2037159" y="281909"/>
                  <a:pt x="2028362" y="290665"/>
                  <a:pt x="2017634" y="290665"/>
                </a:cubicBezTo>
                <a:lnTo>
                  <a:pt x="2017634" y="290665"/>
                </a:lnTo>
                <a:cubicBezTo>
                  <a:pt x="2006905" y="290665"/>
                  <a:pt x="1998109" y="281918"/>
                  <a:pt x="1998109" y="271228"/>
                </a:cubicBezTo>
                <a:lnTo>
                  <a:pt x="1998109" y="105557"/>
                </a:lnTo>
                <a:cubicBezTo>
                  <a:pt x="1998109" y="94866"/>
                  <a:pt x="2006890" y="86119"/>
                  <a:pt x="2017634" y="86119"/>
                </a:cubicBezTo>
                <a:close/>
                <a:moveTo>
                  <a:pt x="1916856" y="248378"/>
                </a:moveTo>
                <a:cubicBezTo>
                  <a:pt x="1929764" y="248378"/>
                  <a:pt x="1940230" y="258798"/>
                  <a:pt x="1940230" y="271654"/>
                </a:cubicBezTo>
                <a:cubicBezTo>
                  <a:pt x="1940230" y="284509"/>
                  <a:pt x="1929764" y="294930"/>
                  <a:pt x="1916856" y="294930"/>
                </a:cubicBezTo>
                <a:cubicBezTo>
                  <a:pt x="1903932" y="294930"/>
                  <a:pt x="1893466" y="284510"/>
                  <a:pt x="1893466" y="271654"/>
                </a:cubicBezTo>
                <a:cubicBezTo>
                  <a:pt x="1893466" y="258799"/>
                  <a:pt x="1903932" y="248378"/>
                  <a:pt x="1916856" y="248378"/>
                </a:cubicBezTo>
                <a:close/>
                <a:moveTo>
                  <a:pt x="1153836" y="257682"/>
                </a:moveTo>
                <a:cubicBezTo>
                  <a:pt x="1153848" y="257289"/>
                  <a:pt x="1153853" y="256891"/>
                  <a:pt x="1153853" y="256481"/>
                </a:cubicBezTo>
                <a:lnTo>
                  <a:pt x="1153836" y="243386"/>
                </a:lnTo>
                <a:lnTo>
                  <a:pt x="1153836" y="242380"/>
                </a:lnTo>
                <a:lnTo>
                  <a:pt x="1153836" y="224247"/>
                </a:lnTo>
                <a:lnTo>
                  <a:pt x="1153836" y="223241"/>
                </a:lnTo>
                <a:lnTo>
                  <a:pt x="1153836" y="222232"/>
                </a:lnTo>
                <a:lnTo>
                  <a:pt x="1153836" y="221226"/>
                </a:lnTo>
                <a:lnTo>
                  <a:pt x="1153850" y="192013"/>
                </a:lnTo>
                <a:lnTo>
                  <a:pt x="1153836" y="189469"/>
                </a:lnTo>
                <a:lnTo>
                  <a:pt x="1153836" y="163010"/>
                </a:lnTo>
                <a:cubicBezTo>
                  <a:pt x="1154589" y="153321"/>
                  <a:pt x="1157007" y="144711"/>
                  <a:pt x="1163846" y="137475"/>
                </a:cubicBezTo>
                <a:cubicBezTo>
                  <a:pt x="1183624" y="116543"/>
                  <a:pt x="1209282" y="119454"/>
                  <a:pt x="1228807" y="121204"/>
                </a:cubicBezTo>
                <a:cubicBezTo>
                  <a:pt x="1238547" y="122076"/>
                  <a:pt x="1246766" y="122663"/>
                  <a:pt x="1251963" y="119854"/>
                </a:cubicBezTo>
                <a:cubicBezTo>
                  <a:pt x="1254305" y="118589"/>
                  <a:pt x="1256036" y="116632"/>
                  <a:pt x="1257016" y="113707"/>
                </a:cubicBezTo>
                <a:cubicBezTo>
                  <a:pt x="1262042" y="98697"/>
                  <a:pt x="1247447" y="91197"/>
                  <a:pt x="1235102" y="88189"/>
                </a:cubicBezTo>
                <a:cubicBezTo>
                  <a:pt x="1225658" y="85888"/>
                  <a:pt x="1215968" y="85499"/>
                  <a:pt x="1206504" y="86712"/>
                </a:cubicBezTo>
                <a:cubicBezTo>
                  <a:pt x="1195113" y="88172"/>
                  <a:pt x="1184045" y="91957"/>
                  <a:pt x="1174123" y="97536"/>
                </a:cubicBezTo>
                <a:cubicBezTo>
                  <a:pt x="1165256" y="102525"/>
                  <a:pt x="1159352" y="107987"/>
                  <a:pt x="1153935" y="112645"/>
                </a:cubicBezTo>
                <a:cubicBezTo>
                  <a:pt x="1153743" y="111590"/>
                  <a:pt x="1153987" y="110564"/>
                  <a:pt x="1153838" y="109566"/>
                </a:cubicBezTo>
                <a:lnTo>
                  <a:pt x="1153838" y="104937"/>
                </a:lnTo>
                <a:cubicBezTo>
                  <a:pt x="1153838" y="94721"/>
                  <a:pt x="1145443" y="86361"/>
                  <a:pt x="1135180" y="86361"/>
                </a:cubicBezTo>
                <a:lnTo>
                  <a:pt x="1135178" y="86361"/>
                </a:lnTo>
                <a:cubicBezTo>
                  <a:pt x="1124917" y="86361"/>
                  <a:pt x="1116521" y="94718"/>
                  <a:pt x="1116521" y="104937"/>
                </a:cubicBezTo>
                <a:lnTo>
                  <a:pt x="1116521" y="272590"/>
                </a:lnTo>
                <a:cubicBezTo>
                  <a:pt x="1116521" y="282807"/>
                  <a:pt x="1124917" y="291166"/>
                  <a:pt x="1135178" y="291166"/>
                </a:cubicBezTo>
                <a:lnTo>
                  <a:pt x="1135180" y="291166"/>
                </a:lnTo>
                <a:cubicBezTo>
                  <a:pt x="1145440" y="291166"/>
                  <a:pt x="1153838" y="282807"/>
                  <a:pt x="1153838" y="272590"/>
                </a:cubicBezTo>
                <a:lnTo>
                  <a:pt x="1153838" y="257680"/>
                </a:lnTo>
                <a:close/>
                <a:moveTo>
                  <a:pt x="1049470" y="254063"/>
                </a:moveTo>
                <a:cubicBezTo>
                  <a:pt x="1035346" y="253141"/>
                  <a:pt x="1021099" y="253283"/>
                  <a:pt x="1015132" y="231272"/>
                </a:cubicBezTo>
                <a:cubicBezTo>
                  <a:pt x="1012301" y="220823"/>
                  <a:pt x="1012757" y="137285"/>
                  <a:pt x="1013815" y="128488"/>
                </a:cubicBezTo>
                <a:cubicBezTo>
                  <a:pt x="1022133" y="126575"/>
                  <a:pt x="1035419" y="128341"/>
                  <a:pt x="1044582" y="127851"/>
                </a:cubicBezTo>
                <a:cubicBezTo>
                  <a:pt x="1054465" y="127322"/>
                  <a:pt x="1062734" y="122535"/>
                  <a:pt x="1062528" y="111804"/>
                </a:cubicBezTo>
                <a:cubicBezTo>
                  <a:pt x="1062050" y="87061"/>
                  <a:pt x="1029096" y="99491"/>
                  <a:pt x="1013897" y="94994"/>
                </a:cubicBezTo>
                <a:cubicBezTo>
                  <a:pt x="1011607" y="81106"/>
                  <a:pt x="1016342" y="44145"/>
                  <a:pt x="1011742" y="34120"/>
                </a:cubicBezTo>
                <a:cubicBezTo>
                  <a:pt x="1004917" y="19244"/>
                  <a:pt x="977208" y="19204"/>
                  <a:pt x="976359" y="44379"/>
                </a:cubicBezTo>
                <a:cubicBezTo>
                  <a:pt x="974961" y="85865"/>
                  <a:pt x="976399" y="130155"/>
                  <a:pt x="976399" y="171960"/>
                </a:cubicBezTo>
                <a:cubicBezTo>
                  <a:pt x="976399" y="218152"/>
                  <a:pt x="971472" y="250114"/>
                  <a:pt x="1000549" y="275919"/>
                </a:cubicBezTo>
                <a:cubicBezTo>
                  <a:pt x="1012991" y="286959"/>
                  <a:pt x="1027408" y="292021"/>
                  <a:pt x="1048918" y="291053"/>
                </a:cubicBezTo>
                <a:cubicBezTo>
                  <a:pt x="1064195" y="290368"/>
                  <a:pt x="1077111" y="276327"/>
                  <a:pt x="1068732" y="263309"/>
                </a:cubicBezTo>
                <a:cubicBezTo>
                  <a:pt x="1065170" y="257780"/>
                  <a:pt x="1057728" y="254603"/>
                  <a:pt x="1049467" y="254066"/>
                </a:cubicBezTo>
                <a:close/>
                <a:moveTo>
                  <a:pt x="1654329" y="128121"/>
                </a:moveTo>
                <a:cubicBezTo>
                  <a:pt x="1668721" y="137143"/>
                  <a:pt x="1676497" y="149902"/>
                  <a:pt x="1689575" y="145262"/>
                </a:cubicBezTo>
                <a:cubicBezTo>
                  <a:pt x="1696377" y="142853"/>
                  <a:pt x="1703921" y="133569"/>
                  <a:pt x="1698835" y="123700"/>
                </a:cubicBezTo>
                <a:cubicBezTo>
                  <a:pt x="1693471" y="113286"/>
                  <a:pt x="1673189" y="98628"/>
                  <a:pt x="1658781" y="93199"/>
                </a:cubicBezTo>
                <a:cubicBezTo>
                  <a:pt x="1622282" y="79427"/>
                  <a:pt x="1576198" y="88733"/>
                  <a:pt x="1549701" y="117759"/>
                </a:cubicBezTo>
                <a:cubicBezTo>
                  <a:pt x="1525079" y="144726"/>
                  <a:pt x="1518763" y="184644"/>
                  <a:pt x="1526955" y="218229"/>
                </a:cubicBezTo>
                <a:cubicBezTo>
                  <a:pt x="1541696" y="278666"/>
                  <a:pt x="1609142" y="308165"/>
                  <a:pt x="1665135" y="285491"/>
                </a:cubicBezTo>
                <a:cubicBezTo>
                  <a:pt x="1677780" y="280370"/>
                  <a:pt x="1703798" y="266840"/>
                  <a:pt x="1695203" y="250516"/>
                </a:cubicBezTo>
                <a:cubicBezTo>
                  <a:pt x="1683655" y="228595"/>
                  <a:pt x="1662970" y="251341"/>
                  <a:pt x="1649737" y="255747"/>
                </a:cubicBezTo>
                <a:cubicBezTo>
                  <a:pt x="1606993" y="269976"/>
                  <a:pt x="1569937" y="244742"/>
                  <a:pt x="1561868" y="209722"/>
                </a:cubicBezTo>
                <a:cubicBezTo>
                  <a:pt x="1555638" y="182657"/>
                  <a:pt x="1561187" y="159742"/>
                  <a:pt x="1574096" y="143864"/>
                </a:cubicBezTo>
                <a:cubicBezTo>
                  <a:pt x="1592600" y="121131"/>
                  <a:pt x="1628790" y="112117"/>
                  <a:pt x="1654329" y="128121"/>
                </a:cubicBezTo>
                <a:close/>
                <a:moveTo>
                  <a:pt x="770332" y="273193"/>
                </a:moveTo>
                <a:cubicBezTo>
                  <a:pt x="800714" y="293094"/>
                  <a:pt x="843781" y="298543"/>
                  <a:pt x="878598" y="286901"/>
                </a:cubicBezTo>
                <a:cubicBezTo>
                  <a:pt x="909469" y="276581"/>
                  <a:pt x="931849" y="239395"/>
                  <a:pt x="915815" y="209829"/>
                </a:cubicBezTo>
                <a:cubicBezTo>
                  <a:pt x="904217" y="188448"/>
                  <a:pt x="874063" y="178055"/>
                  <a:pt x="846916" y="172200"/>
                </a:cubicBezTo>
                <a:cubicBezTo>
                  <a:pt x="827200" y="167949"/>
                  <a:pt x="798644" y="164750"/>
                  <a:pt x="798045" y="143298"/>
                </a:cubicBezTo>
                <a:cubicBezTo>
                  <a:pt x="797263" y="115303"/>
                  <a:pt x="853211" y="112581"/>
                  <a:pt x="878904" y="133434"/>
                </a:cubicBezTo>
                <a:cubicBezTo>
                  <a:pt x="907377" y="156545"/>
                  <a:pt x="925608" y="131782"/>
                  <a:pt x="909300" y="114619"/>
                </a:cubicBezTo>
                <a:cubicBezTo>
                  <a:pt x="902674" y="107647"/>
                  <a:pt x="897432" y="103285"/>
                  <a:pt x="887198" y="97850"/>
                </a:cubicBezTo>
                <a:cubicBezTo>
                  <a:pt x="869287" y="88339"/>
                  <a:pt x="843715" y="84923"/>
                  <a:pt x="821264" y="88342"/>
                </a:cubicBezTo>
                <a:cubicBezTo>
                  <a:pt x="809550" y="90127"/>
                  <a:pt x="800268" y="92696"/>
                  <a:pt x="791342" y="97499"/>
                </a:cubicBezTo>
                <a:cubicBezTo>
                  <a:pt x="755582" y="116743"/>
                  <a:pt x="754656" y="153462"/>
                  <a:pt x="771841" y="172669"/>
                </a:cubicBezTo>
                <a:cubicBezTo>
                  <a:pt x="784160" y="186438"/>
                  <a:pt x="799400" y="193837"/>
                  <a:pt x="822755" y="199392"/>
                </a:cubicBezTo>
                <a:cubicBezTo>
                  <a:pt x="842554" y="204100"/>
                  <a:pt x="869000" y="207640"/>
                  <a:pt x="878728" y="220981"/>
                </a:cubicBezTo>
                <a:cubicBezTo>
                  <a:pt x="900843" y="251307"/>
                  <a:pt x="843809" y="271235"/>
                  <a:pt x="804054" y="251627"/>
                </a:cubicBezTo>
                <a:cubicBezTo>
                  <a:pt x="798682" y="248979"/>
                  <a:pt x="793626" y="245606"/>
                  <a:pt x="789122" y="241439"/>
                </a:cubicBezTo>
                <a:cubicBezTo>
                  <a:pt x="767336" y="221284"/>
                  <a:pt x="730729" y="247256"/>
                  <a:pt x="770330" y="273190"/>
                </a:cubicBezTo>
                <a:close/>
                <a:moveTo>
                  <a:pt x="191993" y="235540"/>
                </a:moveTo>
                <a:cubicBezTo>
                  <a:pt x="192046" y="228129"/>
                  <a:pt x="192052" y="219948"/>
                  <a:pt x="191993" y="211786"/>
                </a:cubicBezTo>
                <a:lnTo>
                  <a:pt x="191993" y="200786"/>
                </a:lnTo>
                <a:lnTo>
                  <a:pt x="191805" y="196832"/>
                </a:lnTo>
                <a:cubicBezTo>
                  <a:pt x="191559" y="183799"/>
                  <a:pt x="191090" y="172189"/>
                  <a:pt x="190311" y="165668"/>
                </a:cubicBezTo>
                <a:cubicBezTo>
                  <a:pt x="190231" y="163999"/>
                  <a:pt x="190002" y="162388"/>
                  <a:pt x="189631" y="160856"/>
                </a:cubicBezTo>
                <a:cubicBezTo>
                  <a:pt x="183577" y="123479"/>
                  <a:pt x="160331" y="97864"/>
                  <a:pt x="126748" y="89879"/>
                </a:cubicBezTo>
                <a:cubicBezTo>
                  <a:pt x="107036" y="85193"/>
                  <a:pt x="81879" y="86859"/>
                  <a:pt x="60301" y="86859"/>
                </a:cubicBezTo>
                <a:cubicBezTo>
                  <a:pt x="51066" y="86859"/>
                  <a:pt x="28677" y="87283"/>
                  <a:pt x="17237" y="88723"/>
                </a:cubicBezTo>
                <a:cubicBezTo>
                  <a:pt x="17002" y="88751"/>
                  <a:pt x="16769" y="88779"/>
                  <a:pt x="16535" y="88814"/>
                </a:cubicBezTo>
                <a:lnTo>
                  <a:pt x="16495" y="88819"/>
                </a:lnTo>
                <a:lnTo>
                  <a:pt x="16484" y="88820"/>
                </a:lnTo>
                <a:cubicBezTo>
                  <a:pt x="16198" y="88859"/>
                  <a:pt x="15926" y="88908"/>
                  <a:pt x="15666" y="88967"/>
                </a:cubicBezTo>
                <a:cubicBezTo>
                  <a:pt x="6765" y="90727"/>
                  <a:pt x="0" y="98586"/>
                  <a:pt x="0" y="107947"/>
                </a:cubicBezTo>
                <a:lnTo>
                  <a:pt x="0" y="272844"/>
                </a:lnTo>
                <a:cubicBezTo>
                  <a:pt x="0" y="283485"/>
                  <a:pt x="8755" y="292192"/>
                  <a:pt x="19434" y="292192"/>
                </a:cubicBezTo>
                <a:lnTo>
                  <a:pt x="19434" y="292192"/>
                </a:lnTo>
                <a:cubicBezTo>
                  <a:pt x="30113" y="292192"/>
                  <a:pt x="38867" y="283476"/>
                  <a:pt x="38867" y="272844"/>
                </a:cubicBezTo>
                <a:lnTo>
                  <a:pt x="38867" y="243403"/>
                </a:lnTo>
                <a:cubicBezTo>
                  <a:pt x="39288" y="237513"/>
                  <a:pt x="39028" y="231118"/>
                  <a:pt x="38867" y="225117"/>
                </a:cubicBezTo>
                <a:lnTo>
                  <a:pt x="38867" y="171375"/>
                </a:lnTo>
                <a:cubicBezTo>
                  <a:pt x="41712" y="119366"/>
                  <a:pt x="93837" y="114762"/>
                  <a:pt x="120080" y="125356"/>
                </a:cubicBezTo>
                <a:cubicBezTo>
                  <a:pt x="135703" y="131662"/>
                  <a:pt x="146996" y="144106"/>
                  <a:pt x="151506" y="162882"/>
                </a:cubicBezTo>
                <a:cubicBezTo>
                  <a:pt x="152262" y="166034"/>
                  <a:pt x="152783" y="170053"/>
                  <a:pt x="153129" y="174664"/>
                </a:cubicBezTo>
                <a:lnTo>
                  <a:pt x="153129" y="232862"/>
                </a:lnTo>
                <a:cubicBezTo>
                  <a:pt x="153010" y="239954"/>
                  <a:pt x="152965" y="246528"/>
                  <a:pt x="153129" y="252033"/>
                </a:cubicBezTo>
                <a:lnTo>
                  <a:pt x="153129" y="272845"/>
                </a:lnTo>
                <a:cubicBezTo>
                  <a:pt x="153129" y="283485"/>
                  <a:pt x="161885" y="292192"/>
                  <a:pt x="172561" y="292192"/>
                </a:cubicBezTo>
                <a:lnTo>
                  <a:pt x="172563" y="292192"/>
                </a:lnTo>
                <a:cubicBezTo>
                  <a:pt x="183239" y="292192"/>
                  <a:pt x="191995" y="283475"/>
                  <a:pt x="191995" y="272845"/>
                </a:cubicBezTo>
                <a:lnTo>
                  <a:pt x="191995" y="235540"/>
                </a:lnTo>
                <a:close/>
                <a:moveTo>
                  <a:pt x="1308999" y="200609"/>
                </a:moveTo>
                <a:cubicBezTo>
                  <a:pt x="1304947" y="166754"/>
                  <a:pt x="1320139" y="137582"/>
                  <a:pt x="1350804" y="124985"/>
                </a:cubicBezTo>
                <a:cubicBezTo>
                  <a:pt x="1355933" y="122878"/>
                  <a:pt x="1358793" y="122044"/>
                  <a:pt x="1364566" y="121218"/>
                </a:cubicBezTo>
                <a:cubicBezTo>
                  <a:pt x="1385145" y="118267"/>
                  <a:pt x="1404637" y="125536"/>
                  <a:pt x="1415916" y="135530"/>
                </a:cubicBezTo>
                <a:cubicBezTo>
                  <a:pt x="1459768" y="174372"/>
                  <a:pt x="1441407" y="251097"/>
                  <a:pt x="1384925" y="258599"/>
                </a:cubicBezTo>
                <a:cubicBezTo>
                  <a:pt x="1344090" y="264023"/>
                  <a:pt x="1313280" y="236369"/>
                  <a:pt x="1308999" y="200609"/>
                </a:cubicBezTo>
                <a:close/>
                <a:moveTo>
                  <a:pt x="1294981" y="123802"/>
                </a:moveTo>
                <a:cubicBezTo>
                  <a:pt x="1279509" y="142476"/>
                  <a:pt x="1269031" y="170801"/>
                  <a:pt x="1272636" y="202370"/>
                </a:cubicBezTo>
                <a:cubicBezTo>
                  <a:pt x="1277089" y="241362"/>
                  <a:pt x="1302115" y="280302"/>
                  <a:pt x="1342351" y="289776"/>
                </a:cubicBezTo>
                <a:cubicBezTo>
                  <a:pt x="1354053" y="292532"/>
                  <a:pt x="1367648" y="292789"/>
                  <a:pt x="1387963" y="292789"/>
                </a:cubicBezTo>
                <a:cubicBezTo>
                  <a:pt x="1404752" y="292788"/>
                  <a:pt x="1421537" y="292789"/>
                  <a:pt x="1438326" y="292788"/>
                </a:cubicBezTo>
                <a:cubicBezTo>
                  <a:pt x="1455662" y="292788"/>
                  <a:pt x="1473273" y="295823"/>
                  <a:pt x="1476225" y="278569"/>
                </a:cubicBezTo>
                <a:cubicBezTo>
                  <a:pt x="1478568" y="264870"/>
                  <a:pt x="1477512" y="193132"/>
                  <a:pt x="1475850" y="177668"/>
                </a:cubicBezTo>
                <a:cubicBezTo>
                  <a:pt x="1472053" y="142368"/>
                  <a:pt x="1447773" y="108904"/>
                  <a:pt x="1414213" y="94330"/>
                </a:cubicBezTo>
                <a:cubicBezTo>
                  <a:pt x="1374163" y="76935"/>
                  <a:pt x="1322586" y="90478"/>
                  <a:pt x="1294982" y="123802"/>
                </a:cubicBezTo>
                <a:close/>
                <a:moveTo>
                  <a:pt x="280631" y="200609"/>
                </a:moveTo>
                <a:cubicBezTo>
                  <a:pt x="276579" y="166754"/>
                  <a:pt x="291771" y="137582"/>
                  <a:pt x="322436" y="124985"/>
                </a:cubicBezTo>
                <a:cubicBezTo>
                  <a:pt x="327565" y="122878"/>
                  <a:pt x="330425" y="122044"/>
                  <a:pt x="336198" y="121218"/>
                </a:cubicBezTo>
                <a:cubicBezTo>
                  <a:pt x="356777" y="118267"/>
                  <a:pt x="376269" y="125536"/>
                  <a:pt x="387548" y="135530"/>
                </a:cubicBezTo>
                <a:cubicBezTo>
                  <a:pt x="431400" y="174372"/>
                  <a:pt x="413039" y="251097"/>
                  <a:pt x="356557" y="258599"/>
                </a:cubicBezTo>
                <a:cubicBezTo>
                  <a:pt x="315722" y="264023"/>
                  <a:pt x="284912" y="236369"/>
                  <a:pt x="280631" y="200609"/>
                </a:cubicBezTo>
                <a:close/>
                <a:moveTo>
                  <a:pt x="266613" y="123802"/>
                </a:moveTo>
                <a:cubicBezTo>
                  <a:pt x="251141" y="142476"/>
                  <a:pt x="240663" y="170801"/>
                  <a:pt x="244268" y="202370"/>
                </a:cubicBezTo>
                <a:cubicBezTo>
                  <a:pt x="247791" y="233225"/>
                  <a:pt x="261409" y="257146"/>
                  <a:pt x="277989" y="270407"/>
                </a:cubicBezTo>
                <a:cubicBezTo>
                  <a:pt x="304625" y="291712"/>
                  <a:pt x="318056" y="292791"/>
                  <a:pt x="359597" y="292789"/>
                </a:cubicBezTo>
                <a:cubicBezTo>
                  <a:pt x="376385" y="292788"/>
                  <a:pt x="393171" y="292789"/>
                  <a:pt x="409959" y="292788"/>
                </a:cubicBezTo>
                <a:cubicBezTo>
                  <a:pt x="427295" y="292788"/>
                  <a:pt x="444906" y="295823"/>
                  <a:pt x="447859" y="278569"/>
                </a:cubicBezTo>
                <a:cubicBezTo>
                  <a:pt x="450201" y="264870"/>
                  <a:pt x="449145" y="193132"/>
                  <a:pt x="447483" y="177668"/>
                </a:cubicBezTo>
                <a:cubicBezTo>
                  <a:pt x="444039" y="145628"/>
                  <a:pt x="423716" y="115099"/>
                  <a:pt x="394896" y="98837"/>
                </a:cubicBezTo>
                <a:cubicBezTo>
                  <a:pt x="353399" y="75419"/>
                  <a:pt x="296641" y="87554"/>
                  <a:pt x="266614" y="123802"/>
                </a:cubicBezTo>
                <a:close/>
                <a:moveTo>
                  <a:pt x="672466" y="200609"/>
                </a:moveTo>
                <a:cubicBezTo>
                  <a:pt x="660451" y="288629"/>
                  <a:pt x="529325" y="274092"/>
                  <a:pt x="542141" y="178857"/>
                </a:cubicBezTo>
                <a:cubicBezTo>
                  <a:pt x="546793" y="144289"/>
                  <a:pt x="577204" y="114556"/>
                  <a:pt x="617943" y="121296"/>
                </a:cubicBezTo>
                <a:cubicBezTo>
                  <a:pt x="651702" y="126882"/>
                  <a:pt x="678086" y="159454"/>
                  <a:pt x="672468" y="200609"/>
                </a:cubicBezTo>
                <a:close/>
                <a:moveTo>
                  <a:pt x="524049" y="0"/>
                </a:moveTo>
                <a:lnTo>
                  <a:pt x="524051" y="0"/>
                </a:lnTo>
                <a:cubicBezTo>
                  <a:pt x="534475" y="0"/>
                  <a:pt x="543001" y="8487"/>
                  <a:pt x="543001" y="18867"/>
                </a:cubicBezTo>
                <a:lnTo>
                  <a:pt x="543001" y="19889"/>
                </a:lnTo>
                <a:cubicBezTo>
                  <a:pt x="544023" y="27735"/>
                  <a:pt x="543047" y="37149"/>
                  <a:pt x="543001" y="43973"/>
                </a:cubicBezTo>
                <a:lnTo>
                  <a:pt x="543001" y="50251"/>
                </a:lnTo>
                <a:lnTo>
                  <a:pt x="543001" y="52569"/>
                </a:lnTo>
                <a:cubicBezTo>
                  <a:pt x="543007" y="66869"/>
                  <a:pt x="543025" y="81171"/>
                  <a:pt x="543001" y="95469"/>
                </a:cubicBezTo>
                <a:lnTo>
                  <a:pt x="543001" y="118633"/>
                </a:lnTo>
                <a:cubicBezTo>
                  <a:pt x="546133" y="115307"/>
                  <a:pt x="560564" y="103988"/>
                  <a:pt x="566288" y="100559"/>
                </a:cubicBezTo>
                <a:cubicBezTo>
                  <a:pt x="570737" y="97894"/>
                  <a:pt x="575435" y="95526"/>
                  <a:pt x="580163" y="93570"/>
                </a:cubicBezTo>
                <a:cubicBezTo>
                  <a:pt x="596495" y="86816"/>
                  <a:pt x="615458" y="85573"/>
                  <a:pt x="634191" y="89071"/>
                </a:cubicBezTo>
                <a:cubicBezTo>
                  <a:pt x="729960" y="106959"/>
                  <a:pt x="745265" y="274443"/>
                  <a:pt x="617153" y="292337"/>
                </a:cubicBezTo>
                <a:cubicBezTo>
                  <a:pt x="602763" y="292776"/>
                  <a:pt x="522114" y="294233"/>
                  <a:pt x="514845" y="291004"/>
                </a:cubicBezTo>
                <a:cubicBezTo>
                  <a:pt x="501493" y="285071"/>
                  <a:pt x="505013" y="264937"/>
                  <a:pt x="505013" y="249318"/>
                </a:cubicBezTo>
                <a:lnTo>
                  <a:pt x="505013" y="45888"/>
                </a:lnTo>
                <a:cubicBezTo>
                  <a:pt x="505013" y="27924"/>
                  <a:pt x="504235" y="22410"/>
                  <a:pt x="505106" y="18390"/>
                </a:cubicBezTo>
                <a:cubicBezTo>
                  <a:pt x="505361" y="8227"/>
                  <a:pt x="513783" y="0"/>
                  <a:pt x="524048" y="0"/>
                </a:cubicBezTo>
                <a:close/>
                <a:moveTo>
                  <a:pt x="2193358" y="85236"/>
                </a:moveTo>
                <a:cubicBezTo>
                  <a:pt x="2251082" y="85236"/>
                  <a:pt x="2297877" y="131422"/>
                  <a:pt x="2297877" y="188395"/>
                </a:cubicBezTo>
                <a:cubicBezTo>
                  <a:pt x="2297877" y="245369"/>
                  <a:pt x="2251082" y="291553"/>
                  <a:pt x="2193358" y="291553"/>
                </a:cubicBezTo>
                <a:cubicBezTo>
                  <a:pt x="2135633" y="291553"/>
                  <a:pt x="2088839" y="245367"/>
                  <a:pt x="2088839" y="188395"/>
                </a:cubicBezTo>
                <a:cubicBezTo>
                  <a:pt x="2088839" y="131420"/>
                  <a:pt x="2135633" y="85236"/>
                  <a:pt x="2193358" y="85236"/>
                </a:cubicBezTo>
                <a:close/>
                <a:moveTo>
                  <a:pt x="2193358" y="118821"/>
                </a:moveTo>
                <a:cubicBezTo>
                  <a:pt x="2229795" y="118821"/>
                  <a:pt x="2259322" y="149969"/>
                  <a:pt x="2259322" y="188395"/>
                </a:cubicBezTo>
                <a:cubicBezTo>
                  <a:pt x="2259322" y="226819"/>
                  <a:pt x="2229795" y="257968"/>
                  <a:pt x="2193358" y="257968"/>
                </a:cubicBezTo>
                <a:cubicBezTo>
                  <a:pt x="2156936" y="257968"/>
                  <a:pt x="2127394" y="226821"/>
                  <a:pt x="2127394" y="188395"/>
                </a:cubicBezTo>
                <a:cubicBezTo>
                  <a:pt x="2127394" y="149970"/>
                  <a:pt x="2156936" y="118821"/>
                  <a:pt x="2193358" y="118821"/>
                </a:cubicBezTo>
                <a:close/>
                <a:moveTo>
                  <a:pt x="1783938" y="22704"/>
                </a:moveTo>
                <a:lnTo>
                  <a:pt x="1783938" y="22704"/>
                </a:lnTo>
                <a:cubicBezTo>
                  <a:pt x="1794342" y="22704"/>
                  <a:pt x="1802829" y="31177"/>
                  <a:pt x="1802829" y="41510"/>
                </a:cubicBezTo>
                <a:lnTo>
                  <a:pt x="1802829" y="47739"/>
                </a:lnTo>
                <a:cubicBezTo>
                  <a:pt x="1803432" y="55758"/>
                  <a:pt x="1803076" y="64821"/>
                  <a:pt x="1802829" y="73338"/>
                </a:cubicBezTo>
                <a:lnTo>
                  <a:pt x="1802829" y="89219"/>
                </a:lnTo>
                <a:cubicBezTo>
                  <a:pt x="1802953" y="91440"/>
                  <a:pt x="1803169" y="93504"/>
                  <a:pt x="1803494" y="95357"/>
                </a:cubicBezTo>
                <a:cubicBezTo>
                  <a:pt x="1821473" y="98081"/>
                  <a:pt x="1851541" y="88759"/>
                  <a:pt x="1851788" y="111798"/>
                </a:cubicBezTo>
                <a:cubicBezTo>
                  <a:pt x="1852051" y="134550"/>
                  <a:pt x="1821906" y="126301"/>
                  <a:pt x="1803432" y="128133"/>
                </a:cubicBezTo>
                <a:cubicBezTo>
                  <a:pt x="1803185" y="129749"/>
                  <a:pt x="1802984" y="133189"/>
                  <a:pt x="1802829" y="137859"/>
                </a:cubicBezTo>
                <a:lnTo>
                  <a:pt x="1802829" y="201802"/>
                </a:lnTo>
                <a:cubicBezTo>
                  <a:pt x="1802829" y="202464"/>
                  <a:pt x="1802798" y="203116"/>
                  <a:pt x="1802736" y="203763"/>
                </a:cubicBezTo>
                <a:cubicBezTo>
                  <a:pt x="1802999" y="216655"/>
                  <a:pt x="1803432" y="226794"/>
                  <a:pt x="1804035" y="229548"/>
                </a:cubicBezTo>
                <a:cubicBezTo>
                  <a:pt x="1811811" y="264836"/>
                  <a:pt x="1841662" y="247708"/>
                  <a:pt x="1853179" y="257894"/>
                </a:cubicBezTo>
                <a:cubicBezTo>
                  <a:pt x="1857694" y="261887"/>
                  <a:pt x="1861079" y="269233"/>
                  <a:pt x="1858992" y="276544"/>
                </a:cubicBezTo>
                <a:cubicBezTo>
                  <a:pt x="1854818" y="291658"/>
                  <a:pt x="1841492" y="292508"/>
                  <a:pt x="1823111" y="290661"/>
                </a:cubicBezTo>
                <a:cubicBezTo>
                  <a:pt x="1808966" y="289242"/>
                  <a:pt x="1798702" y="283242"/>
                  <a:pt x="1790091" y="276333"/>
                </a:cubicBezTo>
                <a:cubicBezTo>
                  <a:pt x="1772019" y="261837"/>
                  <a:pt x="1765588" y="238153"/>
                  <a:pt x="1765634" y="206413"/>
                </a:cubicBezTo>
                <a:cubicBezTo>
                  <a:pt x="1765248" y="204936"/>
                  <a:pt x="1765047" y="203390"/>
                  <a:pt x="1765047" y="201800"/>
                </a:cubicBezTo>
                <a:lnTo>
                  <a:pt x="1765047" y="41509"/>
                </a:lnTo>
                <a:cubicBezTo>
                  <a:pt x="1765047" y="31164"/>
                  <a:pt x="1773549" y="22702"/>
                  <a:pt x="1783938" y="22702"/>
                </a:cubicBezTo>
                <a:close/>
              </a:path>
            </a:pathLst>
          </a:custGeom>
          <a:solidFill>
            <a:srgbClr val="2B2A29"/>
          </a:solidFill>
          <a:ln w="154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Rectangle 8"/>
          <p:cNvSpPr/>
          <p:nvPr/>
        </p:nvSpPr>
        <p:spPr>
          <a:xfrm>
            <a:off x="432000" y="201960"/>
            <a:ext cx="90360" cy="684720"/>
          </a:xfrm>
          <a:prstGeom prst="rect">
            <a:avLst/>
          </a:prstGeom>
          <a:gradFill rotWithShape="0">
            <a:gsLst>
              <a:gs pos="0">
                <a:srgbClr val="FF3621"/>
              </a:gs>
              <a:gs pos="100000">
                <a:srgbClr val="2F2389"/>
              </a:gs>
            </a:gsLst>
            <a:lin ang="54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360" tIns="45000" rIns="4536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Speak Pro"/>
            </a:endParaRPr>
          </a:p>
        </p:txBody>
      </p:sp>
      <p:sp>
        <p:nvSpPr>
          <p:cNvPr id="19" name="Rectangle 9"/>
          <p:cNvSpPr/>
          <p:nvPr/>
        </p:nvSpPr>
        <p:spPr>
          <a:xfrm>
            <a:off x="464040" y="6307200"/>
            <a:ext cx="26280" cy="364680"/>
          </a:xfrm>
          <a:prstGeom prst="rect">
            <a:avLst/>
          </a:prstGeom>
          <a:gradFill rotWithShape="0">
            <a:gsLst>
              <a:gs pos="0">
                <a:srgbClr val="FF3621"/>
              </a:gs>
              <a:gs pos="100000">
                <a:srgbClr val="2F2389"/>
              </a:gs>
            </a:gsLst>
            <a:lin ang="54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3320" tIns="45000" rIns="1332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Speak Pro"/>
            </a:endParaRPr>
          </a:p>
        </p:txBody>
      </p:sp>
      <p:sp>
        <p:nvSpPr>
          <p:cNvPr id="20" name="Rectangle 10"/>
          <p:cNvSpPr/>
          <p:nvPr/>
        </p:nvSpPr>
        <p:spPr>
          <a:xfrm>
            <a:off x="11564280" y="6311520"/>
            <a:ext cx="26280" cy="364680"/>
          </a:xfrm>
          <a:prstGeom prst="rect">
            <a:avLst/>
          </a:prstGeom>
          <a:gradFill rotWithShape="0">
            <a:gsLst>
              <a:gs pos="0">
                <a:srgbClr val="FF3621"/>
              </a:gs>
              <a:gs pos="100000">
                <a:srgbClr val="2F2389"/>
              </a:gs>
            </a:gsLst>
            <a:lin ang="54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3320" tIns="45000" rIns="1332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Speak Pro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598680"/>
            <a:ext cx="10972080" cy="49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3600" b="1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D2780B-A3AD-4D65-BC70-B99FA5CDA44F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Relationship Id="rId9" Type="http://schemas.openxmlformats.org/officeDocument/2006/relationships/image" Target="../media/image15.png"/><Relationship Id="rId10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4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2.png"/><Relationship Id="rId4" Type="http://schemas.openxmlformats.org/officeDocument/2006/relationships/image" Target="../media/image22.png"/><Relationship Id="rId5" Type="http://schemas.openxmlformats.org/officeDocument/2006/relationships/image" Target="../media/image2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9418320" y="-1645920"/>
            <a:ext cx="5027760" cy="5027760"/>
          </a:xfrm>
          <a:prstGeom prst="ellipse">
            <a:avLst/>
          </a:prstGeom>
          <a:solidFill>
            <a:srgbClr val="028090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10607040" y="4206240"/>
            <a:ext cx="3290400" cy="3290400"/>
          </a:xfrm>
          <a:prstGeom prst="ellipse">
            <a:avLst/>
          </a:prstGeom>
          <a:solidFill>
            <a:srgbClr val="02C39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-1097280" y="4754880"/>
            <a:ext cx="2924640" cy="2924640"/>
          </a:xfrm>
          <a:prstGeom prst="ellipse">
            <a:avLst/>
          </a:prstGeom>
          <a:solidFill>
            <a:srgbClr val="00A896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822960" y="1051560"/>
            <a:ext cx="7313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OP</a:t>
            </a:r>
            <a:r>
              <a:rPr lang="en-US" sz="1300" b="1" u="none" spc="201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sz="1300" b="1" u="none" spc="201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SE</a:t>
            </a:r>
            <a:r>
              <a:rPr lang="en-US" sz="1300" b="1" u="none" spc="201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AR</a:t>
            </a:r>
            <a:r>
              <a:rPr lang="en-US" sz="1300" b="1" u="none" spc="201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CH </a:t>
            </a:r>
            <a:r>
              <a:rPr lang="en-US" sz="1300" b="1" u="none" spc="201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AH</a:t>
            </a:r>
            <a:r>
              <a:rPr lang="en-US" sz="1300" b="1" u="none" spc="201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ME</a:t>
            </a:r>
            <a:r>
              <a:rPr lang="en-US" sz="1300" b="1" u="none" spc="201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DA</a:t>
            </a:r>
            <a:r>
              <a:rPr lang="en-US" sz="1300" b="1" u="none" spc="201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BA</a:t>
            </a:r>
            <a:r>
              <a:rPr lang="en-US" sz="1300" b="1" u="none" spc="201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D </a:t>
            </a:r>
            <a:r>
              <a:rPr lang="en-US" sz="1300" b="1" u="none" spc="201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US</a:t>
            </a:r>
            <a:r>
              <a:rPr lang="en-US" sz="1300" b="1" u="none" spc="201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ER </a:t>
            </a:r>
            <a:r>
              <a:rPr lang="en-US" sz="1300" b="1" u="none" spc="201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GR</a:t>
            </a:r>
            <a:r>
              <a:rPr lang="en-US" sz="1300" b="1" u="none" spc="201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OU</a:t>
            </a:r>
            <a:r>
              <a:rPr lang="en-US" sz="1300" b="1" u="none" spc="201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P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777240" y="1463040"/>
            <a:ext cx="987408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y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Ex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pe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ri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en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ce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at</a:t>
            </a:r>
            <a:endParaRPr lang="en-IN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Ku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be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+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Cl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ou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ati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ve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di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20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26</a:t>
            </a:r>
            <a:endParaRPr lang="en-IN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822960" y="3520440"/>
            <a:ext cx="84110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Trends, </a:t>
            </a:r>
            <a:r>
              <a:rPr lang="en-US" sz="16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sessions, </a:t>
            </a:r>
            <a:r>
              <a:rPr lang="en-US" sz="16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and </a:t>
            </a:r>
            <a:r>
              <a:rPr lang="en-US" sz="16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takeaway</a:t>
            </a:r>
            <a:r>
              <a:rPr lang="en-US" sz="16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s from the </a:t>
            </a:r>
            <a:r>
              <a:rPr lang="en-US" sz="16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cloud-</a:t>
            </a:r>
            <a:r>
              <a:rPr lang="en-US" sz="16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native </a:t>
            </a:r>
            <a:r>
              <a:rPr lang="en-US" sz="16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communit</a:t>
            </a:r>
            <a:r>
              <a:rPr lang="en-US" sz="16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y's </a:t>
            </a:r>
            <a:r>
              <a:rPr lang="en-US" sz="16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flagship </a:t>
            </a:r>
            <a:r>
              <a:rPr lang="en-US" sz="16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event in </a:t>
            </a:r>
            <a:r>
              <a:rPr lang="en-US" sz="16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India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6"/>
          <p:cNvSpPr/>
          <p:nvPr/>
        </p:nvSpPr>
        <p:spPr>
          <a:xfrm>
            <a:off x="822960" y="4434840"/>
            <a:ext cx="4844880" cy="137016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7"/>
          <p:cNvSpPr/>
          <p:nvPr/>
        </p:nvSpPr>
        <p:spPr>
          <a:xfrm>
            <a:off x="1051560" y="4663440"/>
            <a:ext cx="912960" cy="9129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0" descr="preencoded.png"/>
          <p:cNvPicPr/>
          <p:nvPr/>
        </p:nvPicPr>
        <p:blipFill>
          <a:blip r:embed="rId1"/>
          <a:stretch/>
        </p:blipFill>
        <p:spPr>
          <a:xfrm>
            <a:off x="1298520" y="491040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8"/>
          <p:cNvSpPr/>
          <p:nvPr/>
        </p:nvSpPr>
        <p:spPr>
          <a:xfrm>
            <a:off x="2148840" y="4681800"/>
            <a:ext cx="3381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Para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Jani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2148840" y="5120640"/>
            <a:ext cx="34275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DevOps Tech </a:t>
            </a:r>
            <a:r>
              <a:rPr lang="en-US" sz="1250" b="0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Lead, </a:t>
            </a:r>
            <a:r>
              <a:rPr lang="en-US" sz="1250" b="0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Ecosmob </a:t>
            </a:r>
            <a:r>
              <a:rPr lang="en-US" sz="1250" b="0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Technologies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5943600" y="4526280"/>
            <a:ext cx="539352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18–19 June 2026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Jio World Convention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Centre, Mumbai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42"/>
          <p:cNvSpPr/>
          <p:nvPr/>
        </p:nvSpPr>
        <p:spPr>
          <a:xfrm>
            <a:off x="548640" y="365760"/>
            <a:ext cx="10971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My 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Jo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ur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ne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y 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— 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Fr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om 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Ba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re 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Me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tal 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to 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Co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nt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ain</a:t>
            </a: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ers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548640" y="86868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A personal timeline, </a:t>
            </a:r>
            <a:r>
              <a:rPr lang="en-US" sz="1300" b="0" i="1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not just an industry </a:t>
            </a:r>
            <a:r>
              <a:rPr lang="en-US" sz="1300" b="0" i="1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one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5"/>
          <p:cNvSpPr/>
          <p:nvPr/>
        </p:nvSpPr>
        <p:spPr>
          <a:xfrm>
            <a:off x="1040760" y="1691640"/>
            <a:ext cx="20880" cy="48452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40" tIns="45000" rIns="1044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8"/>
          <p:cNvSpPr/>
          <p:nvPr/>
        </p:nvSpPr>
        <p:spPr>
          <a:xfrm>
            <a:off x="758880" y="1463040"/>
            <a:ext cx="584280" cy="584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9" descr="preencoded.png"/>
          <p:cNvPicPr/>
          <p:nvPr/>
        </p:nvPicPr>
        <p:blipFill>
          <a:blip r:embed="rId1"/>
          <a:stretch/>
        </p:blipFill>
        <p:spPr>
          <a:xfrm>
            <a:off x="911160" y="1615320"/>
            <a:ext cx="279720" cy="27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Shape 31"/>
          <p:cNvSpPr/>
          <p:nvPr/>
        </p:nvSpPr>
        <p:spPr>
          <a:xfrm>
            <a:off x="1691640" y="1417320"/>
            <a:ext cx="9965880" cy="1023120"/>
          </a:xfrm>
          <a:prstGeom prst="roundRect">
            <a:avLst>
              <a:gd name="adj" fmla="val 6250"/>
            </a:avLst>
          </a:prstGeom>
          <a:solidFill>
            <a:srgbClr val="F0F9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920240" y="150876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WHE</a:t>
            </a:r>
            <a:r>
              <a:rPr lang="en-US" sz="115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RE </a:t>
            </a:r>
            <a:r>
              <a:rPr lang="en-US" sz="115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IT </a:t>
            </a:r>
            <a:r>
              <a:rPr lang="en-US" sz="115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STA</a:t>
            </a:r>
            <a:r>
              <a:rPr lang="en-US" sz="115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RTE</a:t>
            </a:r>
            <a:r>
              <a:rPr lang="en-US" sz="115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920240" y="1783080"/>
            <a:ext cx="95086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The </a:t>
            </a: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Hardware </a:t>
            </a: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Era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1920240" y="2075760"/>
            <a:ext cx="9508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2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Start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ed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my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care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er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on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128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MB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HDD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and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256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MB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RAM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runn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ing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Win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dow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95 /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98 /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2000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— a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goo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d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remi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nder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of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how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far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infra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struc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ture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has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com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e.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2"/>
          <p:cNvSpPr/>
          <p:nvPr/>
        </p:nvSpPr>
        <p:spPr>
          <a:xfrm>
            <a:off x="758880" y="2743200"/>
            <a:ext cx="584280" cy="584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10" descr="preencoded.png"/>
          <p:cNvPicPr/>
          <p:nvPr/>
        </p:nvPicPr>
        <p:blipFill>
          <a:blip r:embed="rId2"/>
          <a:stretch/>
        </p:blipFill>
        <p:spPr>
          <a:xfrm>
            <a:off x="911160" y="2895480"/>
            <a:ext cx="279720" cy="27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Shape 34"/>
          <p:cNvSpPr/>
          <p:nvPr/>
        </p:nvSpPr>
        <p:spPr>
          <a:xfrm>
            <a:off x="1691640" y="2697480"/>
            <a:ext cx="9965880" cy="1023120"/>
          </a:xfrm>
          <a:prstGeom prst="roundRect">
            <a:avLst>
              <a:gd name="adj" fmla="val 6250"/>
            </a:avLst>
          </a:prstGeom>
          <a:solidFill>
            <a:srgbClr val="F0F9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7"/>
          <p:cNvSpPr/>
          <p:nvPr/>
        </p:nvSpPr>
        <p:spPr>
          <a:xfrm>
            <a:off x="1920240" y="278892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~2</a:t>
            </a:r>
            <a:r>
              <a:rPr lang="en-US" sz="115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014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8"/>
          <p:cNvSpPr/>
          <p:nvPr/>
        </p:nvSpPr>
        <p:spPr>
          <a:xfrm>
            <a:off x="1920240" y="3063240"/>
            <a:ext cx="95086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Monolit</a:t>
            </a: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h → </a:t>
            </a: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Contain</a:t>
            </a: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ers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9"/>
          <p:cNvSpPr/>
          <p:nvPr/>
        </p:nvSpPr>
        <p:spPr>
          <a:xfrm>
            <a:off x="1920240" y="3355920"/>
            <a:ext cx="9508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2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All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ou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ap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pli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cat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io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ns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ra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n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as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on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on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oli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th.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Ou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D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pu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sh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ed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us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to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co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nt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ai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ne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riz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e.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R&amp;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D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to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ok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6–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8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on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to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co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nt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ai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ne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riz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e a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sin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gl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ap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pli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cat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io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n,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en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~5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0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or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se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rvi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ce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ov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er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fol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lo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wi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ng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6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on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35"/>
          <p:cNvSpPr/>
          <p:nvPr/>
        </p:nvSpPr>
        <p:spPr>
          <a:xfrm>
            <a:off x="758880" y="4023360"/>
            <a:ext cx="584280" cy="584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11" descr="preencoded.png"/>
          <p:cNvPicPr/>
          <p:nvPr/>
        </p:nvPicPr>
        <p:blipFill>
          <a:blip r:embed="rId3"/>
          <a:stretch/>
        </p:blipFill>
        <p:spPr>
          <a:xfrm>
            <a:off x="911160" y="4175640"/>
            <a:ext cx="279720" cy="27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Shape 36"/>
          <p:cNvSpPr/>
          <p:nvPr/>
        </p:nvSpPr>
        <p:spPr>
          <a:xfrm>
            <a:off x="1691640" y="3977640"/>
            <a:ext cx="9965880" cy="1023120"/>
          </a:xfrm>
          <a:prstGeom prst="roundRect">
            <a:avLst>
              <a:gd name="adj" fmla="val 6250"/>
            </a:avLst>
          </a:prstGeom>
          <a:solidFill>
            <a:srgbClr val="F0F9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0"/>
          <p:cNvSpPr/>
          <p:nvPr/>
        </p:nvSpPr>
        <p:spPr>
          <a:xfrm>
            <a:off x="1920240" y="406908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IN PRODUCTION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1"/>
          <p:cNvSpPr/>
          <p:nvPr/>
        </p:nvSpPr>
        <p:spPr>
          <a:xfrm>
            <a:off x="1920240" y="4343400"/>
            <a:ext cx="95086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Dock</a:t>
            </a: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er </a:t>
            </a: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Hits </a:t>
            </a: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Its </a:t>
            </a: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Limit</a:t>
            </a: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2"/>
          <p:cNvSpPr/>
          <p:nvPr/>
        </p:nvSpPr>
        <p:spPr>
          <a:xfrm>
            <a:off x="1920240" y="4636080"/>
            <a:ext cx="9508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2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Once everything ran as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Docker containers in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production, we hit real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orchestration and scaling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issues — which sent us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searching for a better </a:t>
            </a: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architecture.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37"/>
          <p:cNvSpPr/>
          <p:nvPr/>
        </p:nvSpPr>
        <p:spPr>
          <a:xfrm>
            <a:off x="758880" y="5303520"/>
            <a:ext cx="584280" cy="584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12" descr="preencoded.png"/>
          <p:cNvPicPr/>
          <p:nvPr/>
        </p:nvPicPr>
        <p:blipFill>
          <a:blip r:embed="rId4"/>
          <a:stretch/>
        </p:blipFill>
        <p:spPr>
          <a:xfrm>
            <a:off x="911160" y="5455800"/>
            <a:ext cx="279720" cy="27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Shape 38"/>
          <p:cNvSpPr/>
          <p:nvPr/>
        </p:nvSpPr>
        <p:spPr>
          <a:xfrm>
            <a:off x="1691640" y="5257800"/>
            <a:ext cx="9965880" cy="1023120"/>
          </a:xfrm>
          <a:prstGeom prst="roundRect">
            <a:avLst>
              <a:gd name="adj" fmla="val 6250"/>
            </a:avLst>
          </a:prstGeom>
          <a:solidFill>
            <a:srgbClr val="F0F9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3"/>
          <p:cNvSpPr/>
          <p:nvPr/>
        </p:nvSpPr>
        <p:spPr>
          <a:xfrm>
            <a:off x="1920240" y="534924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R&amp;D BEGINS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4"/>
          <p:cNvSpPr/>
          <p:nvPr/>
        </p:nvSpPr>
        <p:spPr>
          <a:xfrm>
            <a:off x="1920240" y="5623560"/>
            <a:ext cx="95086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Finding Kubernetes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5"/>
          <p:cNvSpPr/>
          <p:nvPr/>
        </p:nvSpPr>
        <p:spPr>
          <a:xfrm>
            <a:off x="1920240" y="5916240"/>
            <a:ext cx="9508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2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We started a new project's R&amp;D on Kubernetes v1.6. By the time R&amp;D wrapped, the ecosystem had already moved to v1.11 — the pace of change was the lesson itself.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56"/>
          <p:cNvSpPr/>
          <p:nvPr/>
        </p:nvSpPr>
        <p:spPr>
          <a:xfrm>
            <a:off x="548640" y="365760"/>
            <a:ext cx="10971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My Journey — Telecom Scale to Ecosmob</a:t>
            </a:r>
            <a:endParaRPr lang="en-IN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7"/>
          <p:cNvSpPr/>
          <p:nvPr/>
        </p:nvSpPr>
        <p:spPr>
          <a:xfrm>
            <a:off x="548640" y="86868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From a 5-person team to VoIP infrastructure at Ecosmob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9"/>
          <p:cNvSpPr/>
          <p:nvPr/>
        </p:nvSpPr>
        <p:spPr>
          <a:xfrm>
            <a:off x="1040760" y="1691640"/>
            <a:ext cx="20880" cy="48452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40" tIns="45000" rIns="1044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40"/>
          <p:cNvSpPr/>
          <p:nvPr/>
        </p:nvSpPr>
        <p:spPr>
          <a:xfrm>
            <a:off x="758880" y="1463040"/>
            <a:ext cx="584280" cy="584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13" descr="preencoded.png"/>
          <p:cNvPicPr/>
          <p:nvPr/>
        </p:nvPicPr>
        <p:blipFill>
          <a:blip r:embed="rId1"/>
          <a:stretch/>
        </p:blipFill>
        <p:spPr>
          <a:xfrm>
            <a:off x="911160" y="1615320"/>
            <a:ext cx="279720" cy="27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Shape 41"/>
          <p:cNvSpPr/>
          <p:nvPr/>
        </p:nvSpPr>
        <p:spPr>
          <a:xfrm>
            <a:off x="1691640" y="1417320"/>
            <a:ext cx="9965880" cy="1023120"/>
          </a:xfrm>
          <a:prstGeom prst="roundRect">
            <a:avLst>
              <a:gd name="adj" fmla="val 6250"/>
            </a:avLst>
          </a:prstGeom>
          <a:solidFill>
            <a:srgbClr val="0F3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8"/>
          <p:cNvSpPr/>
          <p:nvPr/>
        </p:nvSpPr>
        <p:spPr>
          <a:xfrm>
            <a:off x="1920240" y="150876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IN PRODUCTION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9"/>
          <p:cNvSpPr/>
          <p:nvPr/>
        </p:nvSpPr>
        <p:spPr>
          <a:xfrm>
            <a:off x="1920240" y="1783080"/>
            <a:ext cx="95086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Kubernetes Goes Live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0"/>
          <p:cNvSpPr/>
          <p:nvPr/>
        </p:nvSpPr>
        <p:spPr>
          <a:xfrm>
            <a:off x="1920240" y="2075760"/>
            <a:ext cx="9508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2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Our K8s clusters ended up running real telecom products — 4G, 5G, OSS and BSS workloads, not just toy services.</a:t>
            </a:r>
            <a:endParaRPr lang="en-IN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42"/>
          <p:cNvSpPr/>
          <p:nvPr/>
        </p:nvSpPr>
        <p:spPr>
          <a:xfrm>
            <a:off x="758880" y="2743200"/>
            <a:ext cx="584280" cy="584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 14" descr="preencoded.png"/>
          <p:cNvPicPr/>
          <p:nvPr/>
        </p:nvPicPr>
        <p:blipFill>
          <a:blip r:embed="rId2"/>
          <a:stretch/>
        </p:blipFill>
        <p:spPr>
          <a:xfrm>
            <a:off x="911160" y="2895480"/>
            <a:ext cx="279720" cy="27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Shape 43"/>
          <p:cNvSpPr/>
          <p:nvPr/>
        </p:nvSpPr>
        <p:spPr>
          <a:xfrm>
            <a:off x="1691640" y="2697480"/>
            <a:ext cx="9965880" cy="1023120"/>
          </a:xfrm>
          <a:prstGeom prst="roundRect">
            <a:avLst>
              <a:gd name="adj" fmla="val 6250"/>
            </a:avLst>
          </a:prstGeom>
          <a:solidFill>
            <a:srgbClr val="0F3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1"/>
          <p:cNvSpPr/>
          <p:nvPr/>
        </p:nvSpPr>
        <p:spPr>
          <a:xfrm>
            <a:off x="1920240" y="278892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2021 – 2022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2"/>
          <p:cNvSpPr/>
          <p:nvPr/>
        </p:nvSpPr>
        <p:spPr>
          <a:xfrm>
            <a:off x="1920240" y="3063240"/>
            <a:ext cx="95086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CAMARA APIs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3"/>
          <p:cNvSpPr/>
          <p:nvPr/>
        </p:nvSpPr>
        <p:spPr>
          <a:xfrm>
            <a:off x="1920240" y="3355920"/>
            <a:ext cx="9508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2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My boss flagged CAMARA APIs as worth exploring. We built a new telecom product around it, again from scratch.</a:t>
            </a:r>
            <a:endParaRPr lang="en-IN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44"/>
          <p:cNvSpPr/>
          <p:nvPr/>
        </p:nvSpPr>
        <p:spPr>
          <a:xfrm>
            <a:off x="758880" y="4023360"/>
            <a:ext cx="584280" cy="584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15" descr="preencoded.png"/>
          <p:cNvPicPr/>
          <p:nvPr/>
        </p:nvPicPr>
        <p:blipFill>
          <a:blip r:embed="rId3"/>
          <a:stretch/>
        </p:blipFill>
        <p:spPr>
          <a:xfrm>
            <a:off x="911160" y="4175640"/>
            <a:ext cx="279720" cy="27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Shape 45"/>
          <p:cNvSpPr/>
          <p:nvPr/>
        </p:nvSpPr>
        <p:spPr>
          <a:xfrm>
            <a:off x="1691640" y="3977640"/>
            <a:ext cx="9965880" cy="1023120"/>
          </a:xfrm>
          <a:prstGeom prst="roundRect">
            <a:avLst>
              <a:gd name="adj" fmla="val 6250"/>
            </a:avLst>
          </a:prstGeom>
          <a:solidFill>
            <a:srgbClr val="0F3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64"/>
          <p:cNvSpPr/>
          <p:nvPr/>
        </p:nvSpPr>
        <p:spPr>
          <a:xfrm>
            <a:off x="1920240" y="406908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WEARING EVERY HAT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5"/>
          <p:cNvSpPr/>
          <p:nvPr/>
        </p:nvSpPr>
        <p:spPr>
          <a:xfrm>
            <a:off x="1920240" y="4343400"/>
            <a:ext cx="95086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Team of Five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66"/>
          <p:cNvSpPr/>
          <p:nvPr/>
        </p:nvSpPr>
        <p:spPr>
          <a:xfrm>
            <a:off x="1920240" y="4636080"/>
            <a:ext cx="9508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2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The whole product was built by 5 people. I personally covered DevOps, Security, Planning, QA, SRE, customer requirements, and documentation.</a:t>
            </a:r>
            <a:endParaRPr lang="en-IN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46"/>
          <p:cNvSpPr/>
          <p:nvPr/>
        </p:nvSpPr>
        <p:spPr>
          <a:xfrm>
            <a:off x="758880" y="5303520"/>
            <a:ext cx="584280" cy="584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16" descr="preencoded.png"/>
          <p:cNvPicPr/>
          <p:nvPr/>
        </p:nvPicPr>
        <p:blipFill>
          <a:blip r:embed="rId4"/>
          <a:stretch/>
        </p:blipFill>
        <p:spPr>
          <a:xfrm>
            <a:off x="911160" y="5455800"/>
            <a:ext cx="279720" cy="27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Shape 47"/>
          <p:cNvSpPr/>
          <p:nvPr/>
        </p:nvSpPr>
        <p:spPr>
          <a:xfrm>
            <a:off x="1691640" y="5257800"/>
            <a:ext cx="9965880" cy="1023120"/>
          </a:xfrm>
          <a:prstGeom prst="roundRect">
            <a:avLst>
              <a:gd name="adj" fmla="val 6250"/>
            </a:avLst>
          </a:prstGeom>
          <a:solidFill>
            <a:srgbClr val="0F3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67"/>
          <p:cNvSpPr/>
          <p:nvPr/>
        </p:nvSpPr>
        <p:spPr>
          <a:xfrm>
            <a:off x="1920240" y="534924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FEB 2026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8"/>
          <p:cNvSpPr/>
          <p:nvPr/>
        </p:nvSpPr>
        <p:spPr>
          <a:xfrm>
            <a:off x="1920240" y="5623560"/>
            <a:ext cx="95086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Joining Ecosmob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9"/>
          <p:cNvSpPr/>
          <p:nvPr/>
        </p:nvSpPr>
        <p:spPr>
          <a:xfrm>
            <a:off x="1920240" y="5916240"/>
            <a:ext cx="9508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2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Joined Ecosmob, building VoIP-based software  FreeSWITCH, Asterisk, OpenSIPS, and Kamailio across multiple open-source stacks. I am handling DevOps Team and many more</a:t>
            </a:r>
            <a:endParaRPr lang="en-IN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48"/>
          <p:cNvSpPr/>
          <p:nvPr/>
        </p:nvSpPr>
        <p:spPr>
          <a:xfrm>
            <a:off x="548640" y="457200"/>
            <a:ext cx="684720" cy="6847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17" descr="preencoded.png"/>
          <p:cNvPicPr/>
          <p:nvPr/>
        </p:nvPicPr>
        <p:blipFill>
          <a:blip r:embed="rId1"/>
          <a:stretch/>
        </p:blipFill>
        <p:spPr>
          <a:xfrm>
            <a:off x="726840" y="635400"/>
            <a:ext cx="327960" cy="32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70"/>
          <p:cNvSpPr/>
          <p:nvPr/>
        </p:nvSpPr>
        <p:spPr>
          <a:xfrm>
            <a:off x="1417320" y="457200"/>
            <a:ext cx="100573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Why We Need to Meet at Community Events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71"/>
          <p:cNvSpPr/>
          <p:nvPr/>
        </p:nvSpPr>
        <p:spPr>
          <a:xfrm>
            <a:off x="1417320" y="1005840"/>
            <a:ext cx="9142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My own timeline is the argument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49"/>
          <p:cNvSpPr/>
          <p:nvPr/>
        </p:nvSpPr>
        <p:spPr>
          <a:xfrm>
            <a:off x="548640" y="1691640"/>
            <a:ext cx="5256720" cy="21477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50"/>
          <p:cNvSpPr/>
          <p:nvPr/>
        </p:nvSpPr>
        <p:spPr>
          <a:xfrm>
            <a:off x="777240" y="1892880"/>
            <a:ext cx="501840" cy="5018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18" descr="preencoded.png"/>
          <p:cNvPicPr/>
          <p:nvPr/>
        </p:nvPicPr>
        <p:blipFill>
          <a:blip r:embed="rId2"/>
          <a:stretch/>
        </p:blipFill>
        <p:spPr>
          <a:xfrm>
            <a:off x="907920" y="2023560"/>
            <a:ext cx="240480" cy="24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72"/>
          <p:cNvSpPr/>
          <p:nvPr/>
        </p:nvSpPr>
        <p:spPr>
          <a:xfrm>
            <a:off x="1417320" y="1892880"/>
            <a:ext cx="4159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Tech outpaces any one team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3"/>
          <p:cNvSpPr/>
          <p:nvPr/>
        </p:nvSpPr>
        <p:spPr>
          <a:xfrm>
            <a:off x="777240" y="2514600"/>
            <a:ext cx="479952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We started K8s R&amp;D on v1.6 and shipped on v1.11 — without a community, we would have re-learned every one of those five versions' worth of changes the hard way, alone.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51"/>
          <p:cNvSpPr/>
          <p:nvPr/>
        </p:nvSpPr>
        <p:spPr>
          <a:xfrm>
            <a:off x="6080760" y="1691640"/>
            <a:ext cx="5256720" cy="21477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52"/>
          <p:cNvSpPr/>
          <p:nvPr/>
        </p:nvSpPr>
        <p:spPr>
          <a:xfrm>
            <a:off x="6309360" y="1892880"/>
            <a:ext cx="501840" cy="5018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19" descr="preencoded.png"/>
          <p:cNvPicPr/>
          <p:nvPr/>
        </p:nvPicPr>
        <p:blipFill>
          <a:blip r:embed="rId3"/>
          <a:stretch/>
        </p:blipFill>
        <p:spPr>
          <a:xfrm>
            <a:off x="6440040" y="2023560"/>
            <a:ext cx="240480" cy="24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74"/>
          <p:cNvSpPr/>
          <p:nvPr/>
        </p:nvSpPr>
        <p:spPr>
          <a:xfrm>
            <a:off x="6949440" y="1892880"/>
            <a:ext cx="4159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Small teams can't run dedicated R&amp;D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75"/>
          <p:cNvSpPr/>
          <p:nvPr/>
        </p:nvSpPr>
        <p:spPr>
          <a:xfrm>
            <a:off x="6309360" y="2514600"/>
            <a:ext cx="479952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A 5-person team building CAMARA APIs from scratch has no spare capacity for exploratory research — a two-day conference compresses months of trial-and-error into a handful of sessions.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53"/>
          <p:cNvSpPr/>
          <p:nvPr/>
        </p:nvSpPr>
        <p:spPr>
          <a:xfrm>
            <a:off x="548640" y="4114800"/>
            <a:ext cx="5256720" cy="21477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54"/>
          <p:cNvSpPr/>
          <p:nvPr/>
        </p:nvSpPr>
        <p:spPr>
          <a:xfrm>
            <a:off x="777240" y="4316040"/>
            <a:ext cx="501840" cy="5018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20" descr="preencoded.png"/>
          <p:cNvPicPr/>
          <p:nvPr/>
        </p:nvPicPr>
        <p:blipFill>
          <a:blip r:embed="rId4"/>
          <a:stretch/>
        </p:blipFill>
        <p:spPr>
          <a:xfrm>
            <a:off x="907920" y="4446720"/>
            <a:ext cx="240480" cy="24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76"/>
          <p:cNvSpPr/>
          <p:nvPr/>
        </p:nvSpPr>
        <p:spPr>
          <a:xfrm>
            <a:off x="1417320" y="4316040"/>
            <a:ext cx="4159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Production lessons surface here first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7"/>
          <p:cNvSpPr/>
          <p:nvPr/>
        </p:nvSpPr>
        <p:spPr>
          <a:xfrm>
            <a:off x="777240" y="4937760"/>
            <a:ext cx="479952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Stories like a 900-second half-open TCP bug or an air-gapped observability stack get shared at events long before they turn into blog posts or docs.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55"/>
          <p:cNvSpPr/>
          <p:nvPr/>
        </p:nvSpPr>
        <p:spPr>
          <a:xfrm>
            <a:off x="6080760" y="4114800"/>
            <a:ext cx="5256720" cy="21477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56"/>
          <p:cNvSpPr/>
          <p:nvPr/>
        </p:nvSpPr>
        <p:spPr>
          <a:xfrm>
            <a:off x="6309360" y="4316040"/>
            <a:ext cx="501840" cy="5018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21" descr="preencoded.png"/>
          <p:cNvPicPr/>
          <p:nvPr/>
        </p:nvPicPr>
        <p:blipFill>
          <a:blip r:embed="rId5"/>
          <a:stretch/>
        </p:blipFill>
        <p:spPr>
          <a:xfrm>
            <a:off x="6440040" y="4446720"/>
            <a:ext cx="240480" cy="24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78"/>
          <p:cNvSpPr/>
          <p:nvPr/>
        </p:nvSpPr>
        <p:spPr>
          <a:xfrm>
            <a:off x="6949440" y="4316040"/>
            <a:ext cx="4159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Different worlds rarely meet otherwise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79"/>
          <p:cNvSpPr/>
          <p:nvPr/>
        </p:nvSpPr>
        <p:spPr>
          <a:xfrm>
            <a:off x="6309360" y="4937760"/>
            <a:ext cx="479952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Telecom (4G/5G/OSS/BSS), VoIP (FreeSWITCH/Kamailio), and cloud-native (Kubernetes) practitioners don't naturally share a room — community events are where that cross-pollination actually happens.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57"/>
          <p:cNvSpPr/>
          <p:nvPr/>
        </p:nvSpPr>
        <p:spPr>
          <a:xfrm>
            <a:off x="548640" y="6080760"/>
            <a:ext cx="10880280" cy="501840"/>
          </a:xfrm>
          <a:prstGeom prst="roundRect">
            <a:avLst>
              <a:gd name="adj" fmla="val 12727"/>
            </a:avLst>
          </a:prstGeom>
          <a:solidFill>
            <a:srgbClr val="0B2B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80"/>
          <p:cNvSpPr/>
          <p:nvPr/>
        </p:nvSpPr>
        <p:spPr>
          <a:xfrm>
            <a:off x="548640" y="6080760"/>
            <a:ext cx="108802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50" b="1" i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That's exactly why groups like OpenSearch Ahmedabad matter — see you at the next one.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548640" y="365760"/>
            <a:ext cx="10971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Setting the Stage — Kubernetes Architecture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548640" y="868680"/>
            <a:ext cx="10057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A quick refresher before we dive into what's new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5394960" y="1371600"/>
            <a:ext cx="501840" cy="5018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0" descr="preencoded.png"/>
          <p:cNvPicPr/>
          <p:nvPr/>
        </p:nvPicPr>
        <p:blipFill>
          <a:blip r:embed="rId1"/>
          <a:stretch/>
        </p:blipFill>
        <p:spPr>
          <a:xfrm>
            <a:off x="5525640" y="1502280"/>
            <a:ext cx="240480" cy="24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3"/>
          <p:cNvSpPr/>
          <p:nvPr/>
        </p:nvSpPr>
        <p:spPr>
          <a:xfrm>
            <a:off x="4572000" y="1901880"/>
            <a:ext cx="2193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kubectl / API clients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640080" y="2331720"/>
            <a:ext cx="5119560" cy="3565080"/>
          </a:xfrm>
          <a:prstGeom prst="roundRect">
            <a:avLst>
              <a:gd name="adj" fmla="val 2051"/>
            </a:avLst>
          </a:prstGeom>
          <a:solidFill>
            <a:srgbClr val="F0F9F8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868680" y="245052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Control Plane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868680" y="2926080"/>
            <a:ext cx="501840" cy="5018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 1" descr="preencoded.png"/>
          <p:cNvPicPr/>
          <p:nvPr/>
        </p:nvPicPr>
        <p:blipFill>
          <a:blip r:embed="rId2"/>
          <a:stretch/>
        </p:blipFill>
        <p:spPr>
          <a:xfrm>
            <a:off x="999360" y="3056760"/>
            <a:ext cx="240480" cy="24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7"/>
          <p:cNvSpPr/>
          <p:nvPr/>
        </p:nvSpPr>
        <p:spPr>
          <a:xfrm>
            <a:off x="1508760" y="290772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kube-apiserver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1508760" y="3173040"/>
            <a:ext cx="4113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Front door — validates &amp; routes every request</a:t>
            </a:r>
            <a:endParaRPr lang="en-IN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9"/>
          <p:cNvSpPr/>
          <p:nvPr/>
        </p:nvSpPr>
        <p:spPr>
          <a:xfrm>
            <a:off x="868680" y="3639240"/>
            <a:ext cx="501840" cy="5018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2" descr="preencoded.png"/>
          <p:cNvPicPr/>
          <p:nvPr/>
        </p:nvPicPr>
        <p:blipFill>
          <a:blip r:embed="rId3"/>
          <a:stretch/>
        </p:blipFill>
        <p:spPr>
          <a:xfrm>
            <a:off x="999360" y="3769920"/>
            <a:ext cx="240480" cy="24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10"/>
          <p:cNvSpPr/>
          <p:nvPr/>
        </p:nvSpPr>
        <p:spPr>
          <a:xfrm>
            <a:off x="1508760" y="362088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etcd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1508760" y="3886200"/>
            <a:ext cx="4113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Distributed key-value store — the cluster's source of truth</a:t>
            </a:r>
            <a:endParaRPr lang="en-IN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868680" y="4352400"/>
            <a:ext cx="501840" cy="5018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3" descr="preencoded.png"/>
          <p:cNvPicPr/>
          <p:nvPr/>
        </p:nvPicPr>
        <p:blipFill>
          <a:blip r:embed="rId4"/>
          <a:stretch/>
        </p:blipFill>
        <p:spPr>
          <a:xfrm>
            <a:off x="999360" y="4483440"/>
            <a:ext cx="240480" cy="24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13"/>
          <p:cNvSpPr/>
          <p:nvPr/>
        </p:nvSpPr>
        <p:spPr>
          <a:xfrm>
            <a:off x="1508760" y="433440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kube-scheduler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4"/>
          <p:cNvSpPr/>
          <p:nvPr/>
        </p:nvSpPr>
        <p:spPr>
          <a:xfrm>
            <a:off x="1508760" y="4599360"/>
            <a:ext cx="4113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Assigns new Pods to a Node based on constraints</a:t>
            </a:r>
            <a:endParaRPr lang="en-IN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5"/>
          <p:cNvSpPr/>
          <p:nvPr/>
        </p:nvSpPr>
        <p:spPr>
          <a:xfrm>
            <a:off x="868680" y="5065920"/>
            <a:ext cx="501840" cy="5018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 4" descr="preencoded.png"/>
          <p:cNvPicPr/>
          <p:nvPr/>
        </p:nvPicPr>
        <p:blipFill>
          <a:blip r:embed="rId5"/>
          <a:stretch/>
        </p:blipFill>
        <p:spPr>
          <a:xfrm>
            <a:off x="999360" y="5196600"/>
            <a:ext cx="240480" cy="24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 16"/>
          <p:cNvSpPr/>
          <p:nvPr/>
        </p:nvSpPr>
        <p:spPr>
          <a:xfrm>
            <a:off x="1508760" y="504756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controller-manager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7"/>
          <p:cNvSpPr/>
          <p:nvPr/>
        </p:nvSpPr>
        <p:spPr>
          <a:xfrm>
            <a:off x="1508760" y="5312520"/>
            <a:ext cx="4113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Runs reconciliation loops (Deployments, Nodes, etc.)</a:t>
            </a:r>
            <a:endParaRPr lang="en-IN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8"/>
          <p:cNvSpPr/>
          <p:nvPr/>
        </p:nvSpPr>
        <p:spPr>
          <a:xfrm>
            <a:off x="6309360" y="2331720"/>
            <a:ext cx="5256720" cy="3565080"/>
          </a:xfrm>
          <a:prstGeom prst="roundRect">
            <a:avLst>
              <a:gd name="adj" fmla="val 2051"/>
            </a:avLst>
          </a:prstGeom>
          <a:solidFill>
            <a:srgbClr val="F0F9F8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6537960" y="245052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Worker Node(s)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0"/>
          <p:cNvSpPr/>
          <p:nvPr/>
        </p:nvSpPr>
        <p:spPr>
          <a:xfrm>
            <a:off x="6537960" y="2926080"/>
            <a:ext cx="501840" cy="5018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5" descr="preencoded.png"/>
          <p:cNvPicPr/>
          <p:nvPr/>
        </p:nvPicPr>
        <p:blipFill>
          <a:blip r:embed="rId6"/>
          <a:stretch/>
        </p:blipFill>
        <p:spPr>
          <a:xfrm>
            <a:off x="6668640" y="3056760"/>
            <a:ext cx="240480" cy="24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21"/>
          <p:cNvSpPr/>
          <p:nvPr/>
        </p:nvSpPr>
        <p:spPr>
          <a:xfrm>
            <a:off x="7178040" y="2907720"/>
            <a:ext cx="4205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kubelet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2"/>
          <p:cNvSpPr/>
          <p:nvPr/>
        </p:nvSpPr>
        <p:spPr>
          <a:xfrm>
            <a:off x="7178040" y="3173040"/>
            <a:ext cx="4205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Talks to the API server; starts/stops containers on this node</a:t>
            </a:r>
            <a:endParaRPr lang="en-IN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3"/>
          <p:cNvSpPr/>
          <p:nvPr/>
        </p:nvSpPr>
        <p:spPr>
          <a:xfrm>
            <a:off x="6537960" y="3639240"/>
            <a:ext cx="501840" cy="5018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6" descr="preencoded.png"/>
          <p:cNvPicPr/>
          <p:nvPr/>
        </p:nvPicPr>
        <p:blipFill>
          <a:blip r:embed="rId7"/>
          <a:stretch/>
        </p:blipFill>
        <p:spPr>
          <a:xfrm>
            <a:off x="6668640" y="3769920"/>
            <a:ext cx="240480" cy="24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24"/>
          <p:cNvSpPr/>
          <p:nvPr/>
        </p:nvSpPr>
        <p:spPr>
          <a:xfrm>
            <a:off x="7178040" y="3620880"/>
            <a:ext cx="4205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kube-proxy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5"/>
          <p:cNvSpPr/>
          <p:nvPr/>
        </p:nvSpPr>
        <p:spPr>
          <a:xfrm>
            <a:off x="7178040" y="3886200"/>
            <a:ext cx="4205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Programs Service networking rules (iptables/IPVS/eBPF)</a:t>
            </a:r>
            <a:endParaRPr lang="en-IN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6"/>
          <p:cNvSpPr/>
          <p:nvPr/>
        </p:nvSpPr>
        <p:spPr>
          <a:xfrm>
            <a:off x="6537960" y="4352400"/>
            <a:ext cx="501840" cy="5018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7" descr="preencoded.png"/>
          <p:cNvPicPr/>
          <p:nvPr/>
        </p:nvPicPr>
        <p:blipFill>
          <a:blip r:embed="rId8"/>
          <a:stretch/>
        </p:blipFill>
        <p:spPr>
          <a:xfrm>
            <a:off x="6668640" y="4483440"/>
            <a:ext cx="240480" cy="24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27"/>
          <p:cNvSpPr/>
          <p:nvPr/>
        </p:nvSpPr>
        <p:spPr>
          <a:xfrm>
            <a:off x="7178040" y="4334400"/>
            <a:ext cx="4205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Container Runtime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8"/>
          <p:cNvSpPr/>
          <p:nvPr/>
        </p:nvSpPr>
        <p:spPr>
          <a:xfrm>
            <a:off x="7178040" y="4599360"/>
            <a:ext cx="4205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containerd/CRI-O — actually runs the containers</a:t>
            </a:r>
            <a:endParaRPr lang="en-IN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9"/>
          <p:cNvSpPr/>
          <p:nvPr/>
        </p:nvSpPr>
        <p:spPr>
          <a:xfrm>
            <a:off x="6537960" y="5065920"/>
            <a:ext cx="501840" cy="5018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8" descr="preencoded.png"/>
          <p:cNvPicPr/>
          <p:nvPr/>
        </p:nvPicPr>
        <p:blipFill>
          <a:blip r:embed="rId9"/>
          <a:stretch/>
        </p:blipFill>
        <p:spPr>
          <a:xfrm>
            <a:off x="6668640" y="5196600"/>
            <a:ext cx="240480" cy="24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 30"/>
          <p:cNvSpPr/>
          <p:nvPr/>
        </p:nvSpPr>
        <p:spPr>
          <a:xfrm>
            <a:off x="7178040" y="5047560"/>
            <a:ext cx="4205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Pods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1"/>
          <p:cNvSpPr/>
          <p:nvPr/>
        </p:nvSpPr>
        <p:spPr>
          <a:xfrm>
            <a:off x="7178040" y="5312520"/>
            <a:ext cx="4205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One or more containers, scheduled together on this node</a:t>
            </a:r>
            <a:endParaRPr lang="en-IN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2"/>
          <p:cNvSpPr/>
          <p:nvPr/>
        </p:nvSpPr>
        <p:spPr>
          <a:xfrm>
            <a:off x="640080" y="6080760"/>
            <a:ext cx="10926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kubelet ↔ API server: continuous watch/report loop keeps desired state and actual state in sync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/>
          <p:nvPr/>
        </p:nvSpPr>
        <p:spPr>
          <a:xfrm>
            <a:off x="548640" y="411480"/>
            <a:ext cx="91425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KubeCon + CloudNativeCon India 2026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548640" y="960120"/>
            <a:ext cx="9142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CNCF's flagship cloud-native gathering, back in India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"/>
          <p:cNvSpPr/>
          <p:nvPr/>
        </p:nvSpPr>
        <p:spPr>
          <a:xfrm>
            <a:off x="548640" y="1600200"/>
            <a:ext cx="2604600" cy="15530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548640" y="1737360"/>
            <a:ext cx="26046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548640" y="2423160"/>
            <a:ext cx="26046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Days of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sessions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3383280" y="1600200"/>
            <a:ext cx="2604600" cy="15530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3383280" y="1737360"/>
            <a:ext cx="26046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55+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7"/>
          <p:cNvSpPr/>
          <p:nvPr/>
        </p:nvSpPr>
        <p:spPr>
          <a:xfrm>
            <a:off x="3383280" y="2423160"/>
            <a:ext cx="26046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Technical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sessions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8"/>
          <p:cNvSpPr/>
          <p:nvPr/>
        </p:nvSpPr>
        <p:spPr>
          <a:xfrm>
            <a:off x="6217920" y="1600200"/>
            <a:ext cx="2604600" cy="15530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9"/>
          <p:cNvSpPr/>
          <p:nvPr/>
        </p:nvSpPr>
        <p:spPr>
          <a:xfrm>
            <a:off x="6217920" y="1737360"/>
            <a:ext cx="26046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6217920" y="2423160"/>
            <a:ext cx="26046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Lightning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talks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1"/>
          <p:cNvSpPr/>
          <p:nvPr/>
        </p:nvSpPr>
        <p:spPr>
          <a:xfrm>
            <a:off x="9052560" y="1600200"/>
            <a:ext cx="2604600" cy="15530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9052560" y="1737360"/>
            <a:ext cx="26046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1000s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3"/>
          <p:cNvSpPr/>
          <p:nvPr/>
        </p:nvSpPr>
        <p:spPr>
          <a:xfrm>
            <a:off x="9052560" y="2423160"/>
            <a:ext cx="26046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Cloud-native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practitioners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4"/>
          <p:cNvSpPr/>
          <p:nvPr/>
        </p:nvSpPr>
        <p:spPr>
          <a:xfrm>
            <a:off x="548640" y="3520440"/>
            <a:ext cx="4570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Where it happened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5"/>
          <p:cNvSpPr/>
          <p:nvPr/>
        </p:nvSpPr>
        <p:spPr>
          <a:xfrm>
            <a:off x="548640" y="3931920"/>
            <a:ext cx="501480" cy="5014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" name="Image 0" descr="preencoded.png"/>
          <p:cNvPicPr/>
          <p:nvPr/>
        </p:nvPicPr>
        <p:blipFill>
          <a:blip r:embed="rId1"/>
          <a:stretch/>
        </p:blipFill>
        <p:spPr>
          <a:xfrm>
            <a:off x="684360" y="4067640"/>
            <a:ext cx="230040" cy="23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 16"/>
          <p:cNvSpPr/>
          <p:nvPr/>
        </p:nvSpPr>
        <p:spPr>
          <a:xfrm>
            <a:off x="1188720" y="3950280"/>
            <a:ext cx="42048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Mumbai, India — Jio World Convention Centre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18–19 June 2026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7"/>
          <p:cNvSpPr/>
          <p:nvPr/>
        </p:nvSpPr>
        <p:spPr>
          <a:xfrm>
            <a:off x="548640" y="4709160"/>
            <a:ext cx="4570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Why it mattered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8"/>
          <p:cNvSpPr/>
          <p:nvPr/>
        </p:nvSpPr>
        <p:spPr>
          <a:xfrm>
            <a:off x="548640" y="5120640"/>
            <a:ext cx="493632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India is now one of the fastest-growing hubs for cloud-native and open-source AI adoption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Tracks spanned AI + ML, observability, platform engineering, security, and operations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9"/>
          <p:cNvSpPr/>
          <p:nvPr/>
        </p:nvSpPr>
        <p:spPr>
          <a:xfrm>
            <a:off x="8092440" y="1600200"/>
            <a:ext cx="3564720" cy="4707720"/>
          </a:xfrm>
          <a:prstGeom prst="roundRect">
            <a:avLst>
              <a:gd name="adj" fmla="val 2564"/>
            </a:avLst>
          </a:prstGeom>
          <a:solidFill>
            <a:srgbClr val="0B2B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0"/>
          <p:cNvSpPr/>
          <p:nvPr/>
        </p:nvSpPr>
        <p:spPr>
          <a:xfrm>
            <a:off x="8412480" y="1874520"/>
            <a:ext cx="2924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In this talk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1"/>
          <p:cNvSpPr/>
          <p:nvPr/>
        </p:nvSpPr>
        <p:spPr>
          <a:xfrm>
            <a:off x="8412480" y="2377440"/>
            <a:ext cx="254520" cy="2545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2"/>
          <p:cNvSpPr/>
          <p:nvPr/>
        </p:nvSpPr>
        <p:spPr>
          <a:xfrm>
            <a:off x="8412480" y="237744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3"/>
          <p:cNvSpPr/>
          <p:nvPr/>
        </p:nvSpPr>
        <p:spPr>
          <a:xfrm>
            <a:off x="8796600" y="2313360"/>
            <a:ext cx="27417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Top themes across 55+ sessions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4"/>
          <p:cNvSpPr/>
          <p:nvPr/>
        </p:nvSpPr>
        <p:spPr>
          <a:xfrm>
            <a:off x="8412480" y="3035880"/>
            <a:ext cx="254520" cy="2545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5"/>
          <p:cNvSpPr/>
          <p:nvPr/>
        </p:nvSpPr>
        <p:spPr>
          <a:xfrm>
            <a:off x="8412480" y="303588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6"/>
          <p:cNvSpPr/>
          <p:nvPr/>
        </p:nvSpPr>
        <p:spPr>
          <a:xfrm>
            <a:off x="8796600" y="2971800"/>
            <a:ext cx="27417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Deep dive: Observability trends (relevant to us!)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7"/>
          <p:cNvSpPr/>
          <p:nvPr/>
        </p:nvSpPr>
        <p:spPr>
          <a:xfrm>
            <a:off x="8412480" y="3694320"/>
            <a:ext cx="254520" cy="2545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8"/>
          <p:cNvSpPr/>
          <p:nvPr/>
        </p:nvSpPr>
        <p:spPr>
          <a:xfrm>
            <a:off x="8412480" y="369432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9"/>
          <p:cNvSpPr/>
          <p:nvPr/>
        </p:nvSpPr>
        <p:spPr>
          <a:xfrm>
            <a:off x="8796600" y="3630240"/>
            <a:ext cx="27417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Security &amp; zero-trust momentum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30"/>
          <p:cNvSpPr/>
          <p:nvPr/>
        </p:nvSpPr>
        <p:spPr>
          <a:xfrm>
            <a:off x="8412480" y="4352400"/>
            <a:ext cx="254520" cy="2545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1"/>
          <p:cNvSpPr/>
          <p:nvPr/>
        </p:nvSpPr>
        <p:spPr>
          <a:xfrm>
            <a:off x="8412480" y="435240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2"/>
          <p:cNvSpPr/>
          <p:nvPr/>
        </p:nvSpPr>
        <p:spPr>
          <a:xfrm>
            <a:off x="8796600" y="4288680"/>
            <a:ext cx="27417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Platform engineering shifts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3"/>
          <p:cNvSpPr/>
          <p:nvPr/>
        </p:nvSpPr>
        <p:spPr>
          <a:xfrm>
            <a:off x="8412480" y="5010840"/>
            <a:ext cx="254520" cy="2545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4"/>
          <p:cNvSpPr/>
          <p:nvPr/>
        </p:nvSpPr>
        <p:spPr>
          <a:xfrm>
            <a:off x="8412480" y="501084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5"/>
          <p:cNvSpPr/>
          <p:nvPr/>
        </p:nvSpPr>
        <p:spPr>
          <a:xfrm>
            <a:off x="8796600" y="4946760"/>
            <a:ext cx="27417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Takeaways for our day-to-day DevOps work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548640" y="411480"/>
            <a:ext cx="10056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Five Themes Dominated the Floor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548640" y="960120"/>
            <a:ext cx="10056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Across keynotes, breakouts, and lightning talks, these threads kept reappearing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548640" y="1508760"/>
            <a:ext cx="2083320" cy="420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"/>
          <p:cNvSpPr/>
          <p:nvPr/>
        </p:nvSpPr>
        <p:spPr>
          <a:xfrm>
            <a:off x="1248120" y="1783080"/>
            <a:ext cx="684360" cy="6843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9" name="Image 0" descr="preencoded.png"/>
          <p:cNvPicPr/>
          <p:nvPr/>
        </p:nvPicPr>
        <p:blipFill>
          <a:blip r:embed="rId1"/>
          <a:stretch/>
        </p:blipFill>
        <p:spPr>
          <a:xfrm>
            <a:off x="1433160" y="1968120"/>
            <a:ext cx="313920" cy="31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 4"/>
          <p:cNvSpPr/>
          <p:nvPr/>
        </p:nvSpPr>
        <p:spPr>
          <a:xfrm>
            <a:off x="685800" y="2606040"/>
            <a:ext cx="18090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AI &amp; ML on Kubernetes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713160" y="3429000"/>
            <a:ext cx="17542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Multi-cluster GPU scheduling, semantic routing, feature stores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6"/>
          <p:cNvSpPr/>
          <p:nvPr/>
        </p:nvSpPr>
        <p:spPr>
          <a:xfrm>
            <a:off x="2807280" y="1508760"/>
            <a:ext cx="2083320" cy="420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7"/>
          <p:cNvSpPr/>
          <p:nvPr/>
        </p:nvSpPr>
        <p:spPr>
          <a:xfrm>
            <a:off x="3506760" y="1783080"/>
            <a:ext cx="684360" cy="6843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 1" descr="preencoded.png"/>
          <p:cNvPicPr/>
          <p:nvPr/>
        </p:nvPicPr>
        <p:blipFill>
          <a:blip r:embed="rId2"/>
          <a:stretch/>
        </p:blipFill>
        <p:spPr>
          <a:xfrm>
            <a:off x="3691800" y="1968120"/>
            <a:ext cx="313920" cy="31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 8"/>
          <p:cNvSpPr/>
          <p:nvPr/>
        </p:nvSpPr>
        <p:spPr>
          <a:xfrm>
            <a:off x="2944440" y="2606040"/>
            <a:ext cx="18090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Observability at Scale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2971800" y="3429000"/>
            <a:ext cx="17542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OTel collectors, eBPF telemetry, cross-cluster federation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0"/>
          <p:cNvSpPr/>
          <p:nvPr/>
        </p:nvSpPr>
        <p:spPr>
          <a:xfrm>
            <a:off x="5065920" y="1508760"/>
            <a:ext cx="2083320" cy="420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1"/>
          <p:cNvSpPr/>
          <p:nvPr/>
        </p:nvSpPr>
        <p:spPr>
          <a:xfrm>
            <a:off x="5765400" y="1783080"/>
            <a:ext cx="684360" cy="6843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Image 2" descr="preencoded.png"/>
          <p:cNvPicPr/>
          <p:nvPr/>
        </p:nvPicPr>
        <p:blipFill>
          <a:blip r:embed="rId3"/>
          <a:stretch/>
        </p:blipFill>
        <p:spPr>
          <a:xfrm>
            <a:off x="5950440" y="1968120"/>
            <a:ext cx="313920" cy="31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12"/>
          <p:cNvSpPr/>
          <p:nvPr/>
        </p:nvSpPr>
        <p:spPr>
          <a:xfrm>
            <a:off x="5203080" y="2606040"/>
            <a:ext cx="18090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Zero Trust &amp; Supply Chain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3"/>
          <p:cNvSpPr/>
          <p:nvPr/>
        </p:nvSpPr>
        <p:spPr>
          <a:xfrm>
            <a:off x="5230440" y="3429000"/>
            <a:ext cx="17542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SPIFFE identities, in-toto attestation, eBPF network policy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4"/>
          <p:cNvSpPr/>
          <p:nvPr/>
        </p:nvSpPr>
        <p:spPr>
          <a:xfrm>
            <a:off x="7324200" y="1508760"/>
            <a:ext cx="2083320" cy="420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5"/>
          <p:cNvSpPr/>
          <p:nvPr/>
        </p:nvSpPr>
        <p:spPr>
          <a:xfrm>
            <a:off x="8024040" y="1783080"/>
            <a:ext cx="684360" cy="6843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4" name="Image 3" descr="preencoded.png"/>
          <p:cNvPicPr/>
          <p:nvPr/>
        </p:nvPicPr>
        <p:blipFill>
          <a:blip r:embed="rId4"/>
          <a:stretch/>
        </p:blipFill>
        <p:spPr>
          <a:xfrm>
            <a:off x="8209080" y="1968120"/>
            <a:ext cx="313920" cy="31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 16"/>
          <p:cNvSpPr/>
          <p:nvPr/>
        </p:nvSpPr>
        <p:spPr>
          <a:xfrm>
            <a:off x="7461360" y="2606040"/>
            <a:ext cx="18090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Platform Engineering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7"/>
          <p:cNvSpPr/>
          <p:nvPr/>
        </p:nvSpPr>
        <p:spPr>
          <a:xfrm>
            <a:off x="7489080" y="3429000"/>
            <a:ext cx="17542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CUE-based delivery, DevEx tooling, monolith decomposition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8"/>
          <p:cNvSpPr/>
          <p:nvPr/>
        </p:nvSpPr>
        <p:spPr>
          <a:xfrm>
            <a:off x="9582840" y="1508760"/>
            <a:ext cx="2083320" cy="420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9"/>
          <p:cNvSpPr/>
          <p:nvPr/>
        </p:nvSpPr>
        <p:spPr>
          <a:xfrm>
            <a:off x="10282320" y="1783080"/>
            <a:ext cx="684360" cy="6843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9" name="Image 4" descr="preencoded.png"/>
          <p:cNvPicPr/>
          <p:nvPr/>
        </p:nvPicPr>
        <p:blipFill>
          <a:blip r:embed="rId5"/>
          <a:stretch/>
        </p:blipFill>
        <p:spPr>
          <a:xfrm>
            <a:off x="10467720" y="1968120"/>
            <a:ext cx="313920" cy="31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Text 20"/>
          <p:cNvSpPr/>
          <p:nvPr/>
        </p:nvSpPr>
        <p:spPr>
          <a:xfrm>
            <a:off x="9720000" y="2606040"/>
            <a:ext cx="18090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Networking &amp; Edge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1"/>
          <p:cNvSpPr/>
          <p:nvPr/>
        </p:nvSpPr>
        <p:spPr>
          <a:xfrm>
            <a:off x="9747360" y="3429000"/>
            <a:ext cx="17542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Air-gapped mesh, bare-metal provisioning, edge simulation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0"/>
          <p:cNvSpPr/>
          <p:nvPr/>
        </p:nvSpPr>
        <p:spPr>
          <a:xfrm>
            <a:off x="548640" y="502920"/>
            <a:ext cx="638640" cy="6386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Image 0" descr="preencoded.png"/>
          <p:cNvPicPr/>
          <p:nvPr/>
        </p:nvPicPr>
        <p:blipFill>
          <a:blip r:embed="rId1"/>
          <a:stretch/>
        </p:blipFill>
        <p:spPr>
          <a:xfrm>
            <a:off x="721440" y="675720"/>
            <a:ext cx="293040" cy="2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 1"/>
          <p:cNvSpPr/>
          <p:nvPr/>
        </p:nvSpPr>
        <p:spPr>
          <a:xfrm>
            <a:off x="1371600" y="502920"/>
            <a:ext cx="9599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Theme 1 — AI &amp; ML Moved to Center Stage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"/>
          <p:cNvSpPr/>
          <p:nvPr/>
        </p:nvSpPr>
        <p:spPr>
          <a:xfrm>
            <a:off x="1371600" y="960120"/>
            <a:ext cx="9599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The single biggest shift since the last India edition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"/>
          <p:cNvSpPr/>
          <p:nvPr/>
        </p:nvSpPr>
        <p:spPr>
          <a:xfrm>
            <a:off x="548640" y="1508760"/>
            <a:ext cx="53280" cy="1050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4"/>
          <p:cNvSpPr/>
          <p:nvPr/>
        </p:nvSpPr>
        <p:spPr>
          <a:xfrm>
            <a:off x="594360" y="1563480"/>
            <a:ext cx="144720" cy="14472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360" tIns="45000" rIns="7236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914400" y="1454040"/>
            <a:ext cx="102398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Semantic Routing for Model Selection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914400" y="1801440"/>
            <a:ext cx="1042272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Cloud-native patterns for dynamic model selection routed requests by embedding-based intent classification rather than static endpoints — control-plane/data-plane separation kept routing logic out of the model-serving hot path.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7"/>
          <p:cNvSpPr/>
          <p:nvPr/>
        </p:nvSpPr>
        <p:spPr>
          <a:xfrm>
            <a:off x="548640" y="2679120"/>
            <a:ext cx="53280" cy="1050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8"/>
          <p:cNvSpPr/>
          <p:nvPr/>
        </p:nvSpPr>
        <p:spPr>
          <a:xfrm>
            <a:off x="594360" y="2734200"/>
            <a:ext cx="144720" cy="14472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360" tIns="45000" rIns="7236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9"/>
          <p:cNvSpPr/>
          <p:nvPr/>
        </p:nvSpPr>
        <p:spPr>
          <a:xfrm>
            <a:off x="914400" y="2624400"/>
            <a:ext cx="102398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Sandboxed Agent Execution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0"/>
          <p:cNvSpPr/>
          <p:nvPr/>
        </p:nvSpPr>
        <p:spPr>
          <a:xfrm>
            <a:off x="914400" y="2971800"/>
            <a:ext cx="1042272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"LLMs Behind Bars" covered gVisor/microVM-backed sandboxes for untrusted agent code execution, with syscall filtering and egress allow-lists as the primary blast-radius controls — plus separate sessions on orchestrating multi-step agentic workloads as native Kubernetes jobs.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1"/>
          <p:cNvSpPr/>
          <p:nvPr/>
        </p:nvSpPr>
        <p:spPr>
          <a:xfrm>
            <a:off x="548640" y="3849480"/>
            <a:ext cx="53280" cy="1050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2"/>
          <p:cNvSpPr/>
          <p:nvPr/>
        </p:nvSpPr>
        <p:spPr>
          <a:xfrm>
            <a:off x="594360" y="3904560"/>
            <a:ext cx="144720" cy="14472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360" tIns="45000" rIns="7236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3"/>
          <p:cNvSpPr/>
          <p:nvPr/>
        </p:nvSpPr>
        <p:spPr>
          <a:xfrm>
            <a:off x="914400" y="3794760"/>
            <a:ext cx="102398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Multi-Cluster GPU Scheduling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4"/>
          <p:cNvSpPr/>
          <p:nvPr/>
        </p:nvSpPr>
        <p:spPr>
          <a:xfrm>
            <a:off x="914400" y="4142160"/>
            <a:ext cx="1042272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Multikueue extended Kueue's queueing semantics across cluster boundaries for global GPU capacity pooling; "Zero GPU" patterns layered in fractional/time-sliced GPU allocation to cut idle accelerator spend.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5"/>
          <p:cNvSpPr/>
          <p:nvPr/>
        </p:nvSpPr>
        <p:spPr>
          <a:xfrm>
            <a:off x="548640" y="5020200"/>
            <a:ext cx="53280" cy="1050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6"/>
          <p:cNvSpPr/>
          <p:nvPr/>
        </p:nvSpPr>
        <p:spPr>
          <a:xfrm>
            <a:off x="594360" y="5074920"/>
            <a:ext cx="144720" cy="14472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360" tIns="45000" rIns="7236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7"/>
          <p:cNvSpPr/>
          <p:nvPr/>
        </p:nvSpPr>
        <p:spPr>
          <a:xfrm>
            <a:off x="914400" y="4965120"/>
            <a:ext cx="102398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ML Artifacts as OCI Objects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8"/>
          <p:cNvSpPr/>
          <p:nvPr/>
        </p:nvSpPr>
        <p:spPr>
          <a:xfrm>
            <a:off x="914400" y="5312520"/>
            <a:ext cx="1042272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Feast (feature store) and ModelPack proposed treating feature definitions and model weights as versioned OCI artifacts — pullable through the same registries and admission controls as container images.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548640" y="502920"/>
            <a:ext cx="638640" cy="63864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3" name="Image 0" descr="preencoded.png"/>
          <p:cNvPicPr/>
          <p:nvPr/>
        </p:nvPicPr>
        <p:blipFill>
          <a:blip r:embed="rId1"/>
          <a:stretch/>
        </p:blipFill>
        <p:spPr>
          <a:xfrm>
            <a:off x="721440" y="675720"/>
            <a:ext cx="293040" cy="2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Text 1"/>
          <p:cNvSpPr/>
          <p:nvPr/>
        </p:nvSpPr>
        <p:spPr>
          <a:xfrm>
            <a:off x="1371600" y="502920"/>
            <a:ext cx="8685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Theme 2 — Observability at Scale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1371600" y="960120"/>
            <a:ext cx="8685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The theme closest to home for this group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"/>
          <p:cNvSpPr/>
          <p:nvPr/>
        </p:nvSpPr>
        <p:spPr>
          <a:xfrm>
            <a:off x="548640" y="1508760"/>
            <a:ext cx="5210640" cy="1873080"/>
          </a:xfrm>
          <a:prstGeom prst="roundRect">
            <a:avLst>
              <a:gd name="adj" fmla="val 390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777240" y="163692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Offline but Not Blind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5"/>
          <p:cNvSpPr/>
          <p:nvPr/>
        </p:nvSpPr>
        <p:spPr>
          <a:xfrm>
            <a:off x="777240" y="2039040"/>
            <a:ext cx="4753440" cy="12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Air-gapped clusters ran the OTel Collector + LGTM stack (Loki/Grafana/Tempo/Mimir) as an in-cluster workload — local Harbor mirrors fed the collector's exporters, with retention and compaction handled entirely inside the perimeter.</a:t>
            </a:r>
            <a:endParaRPr lang="en-IN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6"/>
          <p:cNvSpPr/>
          <p:nvPr/>
        </p:nvSpPr>
        <p:spPr>
          <a:xfrm>
            <a:off x="6080760" y="1508760"/>
            <a:ext cx="5210640" cy="1873080"/>
          </a:xfrm>
          <a:prstGeom prst="roundRect">
            <a:avLst>
              <a:gd name="adj" fmla="val 390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6309360" y="163692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The Lean Observability Stack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8"/>
          <p:cNvSpPr/>
          <p:nvPr/>
        </p:nvSpPr>
        <p:spPr>
          <a:xfrm>
            <a:off x="6309360" y="2039040"/>
            <a:ext cx="4753440" cy="12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Istio's native telemetry (Envoy access logs + distributed traces) replaced sidecar-heavy agents in isolated environments — a primary-remote mesh topology used an East-West gateway with mTLS for cross-cluster metric scraping.</a:t>
            </a:r>
            <a:endParaRPr lang="en-IN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9"/>
          <p:cNvSpPr/>
          <p:nvPr/>
        </p:nvSpPr>
        <p:spPr>
          <a:xfrm>
            <a:off x="548640" y="3657600"/>
            <a:ext cx="5210640" cy="1873080"/>
          </a:xfrm>
          <a:prstGeom prst="roundRect">
            <a:avLst>
              <a:gd name="adj" fmla="val 390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0"/>
          <p:cNvSpPr/>
          <p:nvPr/>
        </p:nvSpPr>
        <p:spPr>
          <a:xfrm>
            <a:off x="777240" y="378576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Inference in Progress — Monitor Responsibly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777240" y="4187880"/>
            <a:ext cx="4753440" cy="12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Request-scoped tracing spanned the control plane (routing/auth) and the model-serving data plane (GPU queue depth, token latency), correlating spans across the inference boundary that most APM tools treat as opaque.</a:t>
            </a:r>
            <a:endParaRPr lang="en-IN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2"/>
          <p:cNvSpPr/>
          <p:nvPr/>
        </p:nvSpPr>
        <p:spPr>
          <a:xfrm>
            <a:off x="6080760" y="3657600"/>
            <a:ext cx="5210640" cy="1873080"/>
          </a:xfrm>
          <a:prstGeom prst="roundRect">
            <a:avLst>
              <a:gd name="adj" fmla="val 390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3"/>
          <p:cNvSpPr/>
          <p:nvPr/>
        </p:nvSpPr>
        <p:spPr>
          <a:xfrm>
            <a:off x="6309360" y="378576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The 900-Second Ghost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4"/>
          <p:cNvSpPr/>
          <p:nvPr/>
        </p:nvSpPr>
        <p:spPr>
          <a:xfrm>
            <a:off x="6309360" y="4187880"/>
            <a:ext cx="4753440" cy="12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Gojek's MQTT broker fleet (2M+ concurrent connections) surfaced a TCP half-open state that healthchecks reported as alive — resolved via kernel-level socket state inspection (ss/conntrack) rather than app-layer metrics.</a:t>
            </a:r>
            <a:endParaRPr lang="en-IN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0"/>
          <p:cNvSpPr/>
          <p:nvPr/>
        </p:nvSpPr>
        <p:spPr>
          <a:xfrm>
            <a:off x="548640" y="457200"/>
            <a:ext cx="638640" cy="6386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9" name="Image 0" descr="preencoded.png"/>
          <p:cNvPicPr/>
          <p:nvPr/>
        </p:nvPicPr>
        <p:blipFill>
          <a:blip r:embed="rId1"/>
          <a:stretch/>
        </p:blipFill>
        <p:spPr>
          <a:xfrm>
            <a:off x="721440" y="630000"/>
            <a:ext cx="293040" cy="2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Text 1"/>
          <p:cNvSpPr/>
          <p:nvPr/>
        </p:nvSpPr>
        <p:spPr>
          <a:xfrm>
            <a:off x="1371600" y="457200"/>
            <a:ext cx="98740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Session Spotlight — Offline but Not Blind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"/>
          <p:cNvSpPr/>
          <p:nvPr/>
        </p:nvSpPr>
        <p:spPr>
          <a:xfrm>
            <a:off x="1371600" y="914400"/>
            <a:ext cx="987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Manoj Kumar Sardana — Observability in Air-Gapped Kubernetes Environments  (1/2)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3"/>
          <p:cNvSpPr/>
          <p:nvPr/>
        </p:nvSpPr>
        <p:spPr>
          <a:xfrm>
            <a:off x="548640" y="1463040"/>
            <a:ext cx="5256360" cy="4753440"/>
          </a:xfrm>
          <a:prstGeom prst="roundRect">
            <a:avLst>
              <a:gd name="adj" fmla="val 1538"/>
            </a:avLst>
          </a:prstGeom>
          <a:solidFill>
            <a:srgbClr val="F0F9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4"/>
          <p:cNvSpPr/>
          <p:nvPr/>
        </p:nvSpPr>
        <p:spPr>
          <a:xfrm>
            <a:off x="822960" y="1645920"/>
            <a:ext cx="4662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The Air-Gap Constraint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5"/>
          <p:cNvSpPr/>
          <p:nvPr/>
        </p:nvSpPr>
        <p:spPr>
          <a:xfrm>
            <a:off x="822960" y="2103120"/>
            <a:ext cx="4707720" cy="21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Complete network isolation — no internet, no external DNS, no public inbound/outbound traffic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Target sectors: defense, aerospace/research, critical infrastructure, financial core engines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Hardening the perimeter kills external attack surface — but also kills the convenience of managed cloud services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The myth: air-gapped = slow, monolithic, static. The reality: still needs microservice elasticity and 99.99% HA targets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6"/>
          <p:cNvSpPr/>
          <p:nvPr/>
        </p:nvSpPr>
        <p:spPr>
          <a:xfrm>
            <a:off x="822960" y="4343400"/>
            <a:ext cx="46620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SaaS vs. Self-Hosted — the trade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7"/>
          <p:cNvSpPr/>
          <p:nvPr/>
        </p:nvSpPr>
        <p:spPr>
          <a:xfrm>
            <a:off x="822960" y="4709160"/>
            <a:ext cx="470772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6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Data boundary: shipped off-network  →  confined to local cluster storage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6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Resource cost: agents only  →  consumes internal CPU/RAM/PVs directly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6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08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Scale: dynamic billing  →  hard-capped by physical node limits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8"/>
          <p:cNvSpPr/>
          <p:nvPr/>
        </p:nvSpPr>
        <p:spPr>
          <a:xfrm>
            <a:off x="6035040" y="1463040"/>
            <a:ext cx="5439240" cy="4753440"/>
          </a:xfrm>
          <a:prstGeom prst="roundRect">
            <a:avLst>
              <a:gd name="adj" fmla="val 1538"/>
            </a:avLst>
          </a:prstGeom>
          <a:solidFill>
            <a:srgbClr val="0B2B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9"/>
          <p:cNvSpPr/>
          <p:nvPr/>
        </p:nvSpPr>
        <p:spPr>
          <a:xfrm>
            <a:off x="6309360" y="1645920"/>
            <a:ext cx="49363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The Self-Hosted Blueprint: LGTM + OTel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0"/>
          <p:cNvSpPr/>
          <p:nvPr/>
        </p:nvSpPr>
        <p:spPr>
          <a:xfrm>
            <a:off x="6309360" y="2103120"/>
            <a:ext cx="49363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 — Loki (Logs)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1"/>
          <p:cNvSpPr/>
          <p:nvPr/>
        </p:nvSpPr>
        <p:spPr>
          <a:xfrm>
            <a:off x="6309360" y="2395800"/>
            <a:ext cx="4936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Indexes labels, not content. LogQL queries. Object-storage economics with label-first indexing.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2"/>
          <p:cNvSpPr/>
          <p:nvPr/>
        </p:nvSpPr>
        <p:spPr>
          <a:xfrm>
            <a:off x="6309360" y="2999160"/>
            <a:ext cx="49363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 — Grafana (Pane)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3"/>
          <p:cNvSpPr/>
          <p:nvPr/>
        </p:nvSpPr>
        <p:spPr>
          <a:xfrm>
            <a:off x="6309360" y="3291840"/>
            <a:ext cx="4936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One UI over all three signals — correlates via exemplars, trace-to-logs links, and data links.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4"/>
          <p:cNvSpPr/>
          <p:nvPr/>
        </p:nvSpPr>
        <p:spPr>
          <a:xfrm>
            <a:off x="6309360" y="3895200"/>
            <a:ext cx="49363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 — Tempo (Traces)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5"/>
          <p:cNvSpPr/>
          <p:nvPr/>
        </p:nvSpPr>
        <p:spPr>
          <a:xfrm>
            <a:off x="6309360" y="4187880"/>
            <a:ext cx="4936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Trace storage on object store alone. TraceQL search. Built for 100% error-trace retention.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6"/>
          <p:cNvSpPr/>
          <p:nvPr/>
        </p:nvSpPr>
        <p:spPr>
          <a:xfrm>
            <a:off x="6309360" y="4791600"/>
            <a:ext cx="49363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 — Mimir (Metrics)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7"/>
          <p:cNvSpPr/>
          <p:nvPr/>
        </p:nvSpPr>
        <p:spPr>
          <a:xfrm>
            <a:off x="6309360" y="5083920"/>
            <a:ext cx="4936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Horizontally scalable, Prometheus-compatible, PromQL. Handles billions of active series.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8"/>
          <p:cNvSpPr/>
          <p:nvPr/>
        </p:nvSpPr>
        <p:spPr>
          <a:xfrm>
            <a:off x="6309360" y="5733360"/>
            <a:ext cx="493632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30" b="0" i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All four run as native, containerized Kubernetes microservices — OpenTelemetry Collector sits in front as the vendor-neutral ingestion proxy, so no agent is hard-wired to a backend.</a:t>
            </a:r>
            <a:endParaRPr lang="en-IN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548640" y="457200"/>
            <a:ext cx="638640" cy="6386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9" name="Image 0" descr="preencoded.png"/>
          <p:cNvPicPr/>
          <p:nvPr/>
        </p:nvPicPr>
        <p:blipFill>
          <a:blip r:embed="rId1"/>
          <a:stretch/>
        </p:blipFill>
        <p:spPr>
          <a:xfrm>
            <a:off x="721440" y="630000"/>
            <a:ext cx="293040" cy="2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Text 1"/>
          <p:cNvSpPr/>
          <p:nvPr/>
        </p:nvSpPr>
        <p:spPr>
          <a:xfrm>
            <a:off x="1371600" y="457200"/>
            <a:ext cx="98740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Session Spotlight — Offline but Not Blind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1371600" y="914400"/>
            <a:ext cx="987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Local ecosystem mechanics, architecture, and Day-2 governance  (2/2)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"/>
          <p:cNvSpPr/>
          <p:nvPr/>
        </p:nvSpPr>
        <p:spPr>
          <a:xfrm>
            <a:off x="548640" y="1463040"/>
            <a:ext cx="5256360" cy="4753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4"/>
          <p:cNvSpPr/>
          <p:nvPr/>
        </p:nvSpPr>
        <p:spPr>
          <a:xfrm>
            <a:off x="822960" y="1645920"/>
            <a:ext cx="4707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Local Ecosystem &amp; Ingestion Path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822960" y="2103120"/>
            <a:ext cx="4707720" cy="39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Object storage: MinIO (strict S3-API compatibility) or Ceph (native, highly scalable S3-compatible backend) — Loki/Tempo/Mimir all require one to archive blocks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Every image and Helm chart is pre-scanned and air-locked through Harbor: pull → save/tar → load → tag → push into the local OCI registry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LGTM distributed mode — ingestion path: Gateway → Distributor → Ingesters → Object Store Flusher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Read path: Gateway → Query Frontend → Querier → Storage Gateway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Deployed declaratively via helmfile — one "helmfile apply" replaces four separate helm installs, with dependency management, environment sync, and drift detection built in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6"/>
          <p:cNvSpPr/>
          <p:nvPr/>
        </p:nvSpPr>
        <p:spPr>
          <a:xfrm>
            <a:off x="6035040" y="1463040"/>
            <a:ext cx="5439240" cy="27874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7"/>
          <p:cNvSpPr/>
          <p:nvPr/>
        </p:nvSpPr>
        <p:spPr>
          <a:xfrm>
            <a:off x="6309360" y="1645920"/>
            <a:ext cx="49363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Day-2: Retention &amp; Compaction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6309360" y="2103120"/>
            <a:ext cx="4936320" cy="20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6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Compactor merges raw 2-hour blocks into 24-hour blocks to prevent local storage exhaustion</a:t>
            </a:r>
            <a:endParaRPr lang="en-IN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6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deletion_delay (e.g., 12h) as a safety buffer before physical erasure</a:t>
            </a:r>
            <a:endParaRPr lang="en-IN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6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compactor_blocks_retention_period set as a strict global ceiling (e.g., 90d)</a:t>
            </a:r>
            <a:endParaRPr lang="en-IN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6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Compactor PVs get fast SSDs — merge operations are I/O-intensive</a:t>
            </a:r>
            <a:endParaRPr lang="en-IN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9"/>
          <p:cNvSpPr/>
          <p:nvPr/>
        </p:nvSpPr>
        <p:spPr>
          <a:xfrm>
            <a:off x="6035040" y="4389120"/>
            <a:ext cx="5439240" cy="1827360"/>
          </a:xfrm>
          <a:prstGeom prst="roundRect">
            <a:avLst>
              <a:gd name="adj" fmla="val 4000"/>
            </a:avLst>
          </a:prstGeom>
          <a:solidFill>
            <a:srgbClr val="0B2B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6309360" y="4553640"/>
            <a:ext cx="49363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Observing the Observer (Split-Brain)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1"/>
          <p:cNvSpPr/>
          <p:nvPr/>
        </p:nvSpPr>
        <p:spPr>
          <a:xfrm>
            <a:off x="6309360" y="4892040"/>
            <a:ext cx="4936320" cy="12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A lightweight, second observability stack lives in the application cluster to watch the primary stack's own vitals: Collector ingestion/exporter drops, Mimir distributor errors, Loki flush-queue saturation, Compactor lag, Tempo span drops, MinIO IOPS/latency — plus "complete silence" as its own alertable signal.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548640" y="502920"/>
            <a:ext cx="638640" cy="6386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2" name="Image 0" descr="preencoded.png"/>
          <p:cNvPicPr/>
          <p:nvPr/>
        </p:nvPicPr>
        <p:blipFill>
          <a:blip r:embed="rId1"/>
          <a:stretch/>
        </p:blipFill>
        <p:spPr>
          <a:xfrm>
            <a:off x="721440" y="675720"/>
            <a:ext cx="293040" cy="2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Text 1"/>
          <p:cNvSpPr/>
          <p:nvPr/>
        </p:nvSpPr>
        <p:spPr>
          <a:xfrm>
            <a:off x="1371600" y="502920"/>
            <a:ext cx="98740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Theme 3 — Zero Trust &amp; Supply Chain Security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"/>
          <p:cNvSpPr/>
          <p:nvPr/>
        </p:nvSpPr>
        <p:spPr>
          <a:xfrm>
            <a:off x="1371600" y="960120"/>
            <a:ext cx="987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Security shifted from "perimeter" to "every agent and every artifact"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3"/>
          <p:cNvSpPr/>
          <p:nvPr/>
        </p:nvSpPr>
        <p:spPr>
          <a:xfrm>
            <a:off x="548640" y="1554480"/>
            <a:ext cx="5347800" cy="4204800"/>
          </a:xfrm>
          <a:prstGeom prst="roundRect">
            <a:avLst>
              <a:gd name="adj" fmla="val 1739"/>
            </a:avLst>
          </a:prstGeom>
          <a:solidFill>
            <a:srgbClr val="F0F9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4"/>
          <p:cNvSpPr/>
          <p:nvPr/>
        </p:nvSpPr>
        <p:spPr>
          <a:xfrm>
            <a:off x="868680" y="178308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Identity &amp; Runtime Trust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5"/>
          <p:cNvSpPr/>
          <p:nvPr/>
        </p:nvSpPr>
        <p:spPr>
          <a:xfrm>
            <a:off x="868680" y="2240280"/>
            <a:ext cx="4753440" cy="32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1199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Zero Trust for Autonomous Agents — SPIFFE/SPIRE workload identities so each agent tool-call is authenticated, not just the human session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99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Zero Trust for Fintech with Cilium — eBPF-enforced L3/L4/L7 policy at the kernel, replacing iptables-based NetworkPolicy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99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Root Without Risk — dropping CAP_SYS_ADMIN via user-namespace remapping instead of blanket privileged containers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6"/>
          <p:cNvSpPr/>
          <p:nvPr/>
        </p:nvSpPr>
        <p:spPr>
          <a:xfrm>
            <a:off x="6080760" y="1554480"/>
            <a:ext cx="5347800" cy="4204800"/>
          </a:xfrm>
          <a:prstGeom prst="roundRect">
            <a:avLst>
              <a:gd name="adj" fmla="val 1739"/>
            </a:avLst>
          </a:prstGeom>
          <a:solidFill>
            <a:srgbClr val="F0F9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7"/>
          <p:cNvSpPr/>
          <p:nvPr/>
        </p:nvSpPr>
        <p:spPr>
          <a:xfrm>
            <a:off x="6400800" y="178308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Supply Chain &amp; Policy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8"/>
          <p:cNvSpPr/>
          <p:nvPr/>
        </p:nvSpPr>
        <p:spPr>
          <a:xfrm>
            <a:off x="6400800" y="2240280"/>
            <a:ext cx="4753440" cy="32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1199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in-toto attestations &amp; Commit-Then-Disclose — signed, SLSA-aligned provenance linking commit → build → artifact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99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Cluster-Wide Policy Risk — modeling blast radius of cluster-scoped admission policies before they reach production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99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Secure GitOps with Argo CD + Confidential Containers — reconciling into SEV-SNP/TDX-backed enclaves for regulated workloads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 0"/>
          <p:cNvSpPr/>
          <p:nvPr/>
        </p:nvSpPr>
        <p:spPr>
          <a:xfrm>
            <a:off x="548640" y="411480"/>
            <a:ext cx="10056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Themes 4 &amp; 5 — Platforms, Networking &amp; Edge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"/>
          <p:cNvSpPr/>
          <p:nvPr/>
        </p:nvSpPr>
        <p:spPr>
          <a:xfrm>
            <a:off x="548640" y="1234440"/>
            <a:ext cx="5347800" cy="457056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"/>
          <p:cNvSpPr/>
          <p:nvPr/>
        </p:nvSpPr>
        <p:spPr>
          <a:xfrm>
            <a:off x="822960" y="1463040"/>
            <a:ext cx="547200" cy="5472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4" name="Image 0" descr="preencoded.png"/>
          <p:cNvPicPr/>
          <p:nvPr/>
        </p:nvPicPr>
        <p:blipFill>
          <a:blip r:embed="rId1"/>
          <a:stretch/>
        </p:blipFill>
        <p:spPr>
          <a:xfrm>
            <a:off x="970920" y="1611000"/>
            <a:ext cx="25092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 3"/>
          <p:cNvSpPr/>
          <p:nvPr/>
        </p:nvSpPr>
        <p:spPr>
          <a:xfrm>
            <a:off x="1508760" y="1536120"/>
            <a:ext cx="42048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Platform Engineering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4"/>
          <p:cNvSpPr/>
          <p:nvPr/>
        </p:nvSpPr>
        <p:spPr>
          <a:xfrm>
            <a:off x="868680" y="2103120"/>
            <a:ext cx="4753440" cy="35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10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KubeVela — application delivery as a portable, CUE-based OAM definition instead of raw Helm charts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0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TAG DevEx Roadmap — CNCF's push to standardize golden-path tooling and inner-loop feedback speed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0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Re-architecting Monoliths — strangler-fig decomposition into K8s microservices, incrementally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0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BeyondThePrimaryCR — controller patterns for CRDs owning more than one primary resource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5"/>
          <p:cNvSpPr/>
          <p:nvPr/>
        </p:nvSpPr>
        <p:spPr>
          <a:xfrm>
            <a:off x="6080760" y="1234440"/>
            <a:ext cx="5530680" cy="457056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6"/>
          <p:cNvSpPr/>
          <p:nvPr/>
        </p:nvSpPr>
        <p:spPr>
          <a:xfrm>
            <a:off x="6355080" y="1463040"/>
            <a:ext cx="547200" cy="5472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9" name="Image 1" descr="preencoded.png"/>
          <p:cNvPicPr/>
          <p:nvPr/>
        </p:nvPicPr>
        <p:blipFill>
          <a:blip r:embed="rId2"/>
          <a:stretch/>
        </p:blipFill>
        <p:spPr>
          <a:xfrm>
            <a:off x="6503040" y="1611000"/>
            <a:ext cx="25092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Text 7"/>
          <p:cNvSpPr/>
          <p:nvPr/>
        </p:nvSpPr>
        <p:spPr>
          <a:xfrm>
            <a:off x="7040880" y="1536120"/>
            <a:ext cx="43876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Networking, Infra &amp; Edge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8"/>
          <p:cNvSpPr/>
          <p:nvPr/>
        </p:nvSpPr>
        <p:spPr>
          <a:xfrm>
            <a:off x="6400800" y="2103120"/>
            <a:ext cx="5027760" cy="35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10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Service networking in air-gapped clusters — local CNI IPAM and DNS resolution with no upstream reachability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0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Metal³ — bare-metal provisioning via Redfish/IPMI, reconciled as BareMetalHost CRs with no cloud API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0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KubeEdge — MQTT-based edge-to-cloud sync (EdgeCore/CloudCore) tolerating intermittent connectivity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0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Rook/Ceph — maintainer insights on OSD placement and reliable stateful storage on Kubernetes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 19"/>
          <p:cNvSpPr/>
          <p:nvPr/>
        </p:nvSpPr>
        <p:spPr>
          <a:xfrm>
            <a:off x="548640" y="457200"/>
            <a:ext cx="10056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Spotlight: One Session, Full Depth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4"/>
          <p:cNvSpPr/>
          <p:nvPr/>
        </p:nvSpPr>
        <p:spPr>
          <a:xfrm>
            <a:off x="548640" y="1005840"/>
            <a:ext cx="10056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"The 900-Second Ghost: Debugging Half-Open TCP" — Dhruv Jain, GoTo Group (Gojek), Indonesia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3"/>
          <p:cNvSpPr/>
          <p:nvPr/>
        </p:nvSpPr>
        <p:spPr>
          <a:xfrm>
            <a:off x="640080" y="1920240"/>
            <a:ext cx="2604600" cy="2376000"/>
          </a:xfrm>
          <a:prstGeom prst="roundRect">
            <a:avLst>
              <a:gd name="adj" fmla="val 3846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7"/>
          <p:cNvSpPr/>
          <p:nvPr/>
        </p:nvSpPr>
        <p:spPr>
          <a:xfrm>
            <a:off x="640080" y="2286000"/>
            <a:ext cx="26046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2M</a:t>
            </a:r>
            <a:endParaRPr lang="en-IN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30"/>
          <p:cNvSpPr/>
          <p:nvPr/>
        </p:nvSpPr>
        <p:spPr>
          <a:xfrm>
            <a:off x="640080" y="3200400"/>
            <a:ext cx="26046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concurrent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connections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7"/>
          <p:cNvSpPr/>
          <p:nvPr/>
        </p:nvSpPr>
        <p:spPr>
          <a:xfrm>
            <a:off x="3474720" y="1920240"/>
            <a:ext cx="2604600" cy="2376000"/>
          </a:xfrm>
          <a:prstGeom prst="roundRect">
            <a:avLst>
              <a:gd name="adj" fmla="val 3846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33"/>
          <p:cNvSpPr/>
          <p:nvPr/>
        </p:nvSpPr>
        <p:spPr>
          <a:xfrm>
            <a:off x="3474720" y="2286000"/>
            <a:ext cx="26046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15M</a:t>
            </a:r>
            <a:endParaRPr lang="en-IN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36"/>
          <p:cNvSpPr/>
          <p:nvPr/>
        </p:nvSpPr>
        <p:spPr>
          <a:xfrm>
            <a:off x="3474720" y="3200400"/>
            <a:ext cx="26046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MQTT daily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active users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20"/>
          <p:cNvSpPr/>
          <p:nvPr/>
        </p:nvSpPr>
        <p:spPr>
          <a:xfrm>
            <a:off x="6309360" y="1920240"/>
            <a:ext cx="2604600" cy="2376000"/>
          </a:xfrm>
          <a:prstGeom prst="roundRect">
            <a:avLst>
              <a:gd name="adj" fmla="val 3846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7"/>
          <p:cNvSpPr/>
          <p:nvPr/>
        </p:nvSpPr>
        <p:spPr>
          <a:xfrm>
            <a:off x="6309360" y="2286000"/>
            <a:ext cx="26046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3.2M</a:t>
            </a:r>
            <a:endParaRPr lang="en-IN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8"/>
          <p:cNvSpPr/>
          <p:nvPr/>
        </p:nvSpPr>
        <p:spPr>
          <a:xfrm>
            <a:off x="6309360" y="3200400"/>
            <a:ext cx="26046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requests per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minute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2"/>
          <p:cNvSpPr/>
          <p:nvPr/>
        </p:nvSpPr>
        <p:spPr>
          <a:xfrm>
            <a:off x="9144000" y="1920240"/>
            <a:ext cx="2604600" cy="2376000"/>
          </a:xfrm>
          <a:prstGeom prst="roundRect">
            <a:avLst>
              <a:gd name="adj" fmla="val 3846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39"/>
          <p:cNvSpPr/>
          <p:nvPr/>
        </p:nvSpPr>
        <p:spPr>
          <a:xfrm>
            <a:off x="9144000" y="2286000"/>
            <a:ext cx="26046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900s</a:t>
            </a:r>
            <a:endParaRPr lang="en-IN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40"/>
          <p:cNvSpPr/>
          <p:nvPr/>
        </p:nvSpPr>
        <p:spPr>
          <a:xfrm>
            <a:off x="9144000" y="3200400"/>
            <a:ext cx="26046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silent outage before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auto-recovery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3"/>
          <p:cNvSpPr/>
          <p:nvPr/>
        </p:nvSpPr>
        <p:spPr>
          <a:xfrm>
            <a:off x="548640" y="4709160"/>
            <a:ext cx="547200" cy="5472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7" name="Image 6" descr="preencoded.png"/>
          <p:cNvPicPr/>
          <p:nvPr/>
        </p:nvPicPr>
        <p:blipFill>
          <a:blip r:embed="rId1"/>
          <a:stretch/>
        </p:blipFill>
        <p:spPr>
          <a:xfrm>
            <a:off x="685800" y="4827960"/>
            <a:ext cx="272880" cy="27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 41"/>
          <p:cNvSpPr/>
          <p:nvPr/>
        </p:nvSpPr>
        <p:spPr>
          <a:xfrm>
            <a:off x="1280160" y="4663440"/>
            <a:ext cx="987408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At Indonesia-scale traffic, a connection can look perfectly alive to every dashboard while being functionally dead. The next two slides walk through the full root-cause chain.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 0"/>
          <p:cNvSpPr/>
          <p:nvPr/>
        </p:nvSpPr>
        <p:spPr>
          <a:xfrm>
            <a:off x="548640" y="411480"/>
            <a:ext cx="100569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Deep Dive — The Problem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548640" y="914400"/>
            <a:ext cx="10514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MQTT setup: Mobile/Backend clients ↔ Load Balancer ↔ Message Broker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"/>
          <p:cNvSpPr/>
          <p:nvPr/>
        </p:nvSpPr>
        <p:spPr>
          <a:xfrm>
            <a:off x="548640" y="1417320"/>
            <a:ext cx="10879920" cy="1233000"/>
          </a:xfrm>
          <a:prstGeom prst="roundRect">
            <a:avLst>
              <a:gd name="adj" fmla="val 5926"/>
            </a:avLst>
          </a:prstGeom>
          <a:solidFill>
            <a:srgbClr val="F0F9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"/>
          <p:cNvSpPr/>
          <p:nvPr/>
        </p:nvSpPr>
        <p:spPr>
          <a:xfrm>
            <a:off x="822960" y="1536120"/>
            <a:ext cx="2741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The Trigger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"/>
          <p:cNvSpPr/>
          <p:nvPr/>
        </p:nvSpPr>
        <p:spPr>
          <a:xfrm>
            <a:off x="822960" y="1828800"/>
            <a:ext cx="10331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During routine broker deployments, the LB terminated a TCP connection — but the backend client's socket was never notified. The connection went half-open: alive on one side, dead on the other.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5"/>
          <p:cNvSpPr/>
          <p:nvPr/>
        </p:nvSpPr>
        <p:spPr>
          <a:xfrm>
            <a:off x="548640" y="2788920"/>
            <a:ext cx="7313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Why a Half-Open TCP Connection Is Dangerous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6"/>
          <p:cNvSpPr/>
          <p:nvPr/>
        </p:nvSpPr>
        <p:spPr>
          <a:xfrm>
            <a:off x="548640" y="3200400"/>
            <a:ext cx="105141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6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Normal close: FIN → ACK → FIN → ACK, both sides agree the connection is done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6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Here: the FIN segment from the LB never reached the backend client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601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Result: broker/LB believe the socket is closed; the client keeps writing to a socket that will never respond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7"/>
          <p:cNvSpPr/>
          <p:nvPr/>
        </p:nvSpPr>
        <p:spPr>
          <a:xfrm>
            <a:off x="548640" y="4480560"/>
            <a:ext cx="7313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0242A"/>
                </a:solidFill>
                <a:effectLst/>
                <a:uFillTx/>
                <a:latin typeface="Arial"/>
                <a:ea typeface="Arial"/>
              </a:rPr>
              <a:t>Impact &amp; Investigation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8"/>
          <p:cNvSpPr/>
          <p:nvPr/>
        </p:nvSpPr>
        <p:spPr>
          <a:xfrm>
            <a:off x="548640" y="4864680"/>
            <a:ext cx="10605600" cy="15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12000"/>
              </a:lnSpc>
              <a:spcAft>
                <a:spcPts val="799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Impact: queue buildup → latency spikes → relay-rate drop, self-resolving only after ~900s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2000"/>
              </a:lnSpc>
              <a:spcAft>
                <a:spcPts val="799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Staging repro failed at low throughput but succeeded under high publish throughput — pointing at the network stack, not app logic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2000"/>
              </a:lnSpc>
              <a:spcAft>
                <a:spcPts val="799"/>
              </a:spcAft>
              <a:buClr>
                <a:srgbClr val="10242A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Root cause needed packet-level evidence: tcpdump on the backend client and the LB, cross-checked in Wireshark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 0"/>
          <p:cNvSpPr/>
          <p:nvPr/>
        </p:nvSpPr>
        <p:spPr>
          <a:xfrm>
            <a:off x="548640" y="411480"/>
            <a:ext cx="100569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Deep Dive — Root Cause &amp; Fix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"/>
          <p:cNvSpPr/>
          <p:nvPr/>
        </p:nvSpPr>
        <p:spPr>
          <a:xfrm>
            <a:off x="548640" y="914400"/>
            <a:ext cx="10514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Three questions, three independent root causes, stacked on top of each other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2"/>
          <p:cNvSpPr/>
          <p:nvPr/>
        </p:nvSpPr>
        <p:spPr>
          <a:xfrm>
            <a:off x="548640" y="1417320"/>
            <a:ext cx="10879920" cy="1233000"/>
          </a:xfrm>
          <a:prstGeom prst="roundRect">
            <a:avLst>
              <a:gd name="adj" fmla="val 592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3"/>
          <p:cNvSpPr/>
          <p:nvPr/>
        </p:nvSpPr>
        <p:spPr>
          <a:xfrm>
            <a:off x="822960" y="1527120"/>
            <a:ext cx="103312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Q1 — Why did MQTT KeepAlive not catch it?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4"/>
          <p:cNvSpPr/>
          <p:nvPr/>
        </p:nvSpPr>
        <p:spPr>
          <a:xfrm>
            <a:off x="822960" y="1856160"/>
            <a:ext cx="10331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The failure chain: a network drop stalled the client's write buffer → the Paho MQTT library's blocking write had no timeout → the MQTT network thread froze → PINGREQ was never sent → KeepAlive itself was starved of CPU time to detect the failure it existed to catch.</a:t>
            </a:r>
            <a:endParaRPr lang="en-IN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5"/>
          <p:cNvSpPr/>
          <p:nvPr/>
        </p:nvSpPr>
        <p:spPr>
          <a:xfrm>
            <a:off x="548640" y="2770560"/>
            <a:ext cx="10879920" cy="1233000"/>
          </a:xfrm>
          <a:prstGeom prst="roundRect">
            <a:avLst>
              <a:gd name="adj" fmla="val 592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6"/>
          <p:cNvSpPr/>
          <p:nvPr/>
        </p:nvSpPr>
        <p:spPr>
          <a:xfrm>
            <a:off x="822960" y="2880360"/>
            <a:ext cx="103312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Q2 — Why exactly ~900 seconds?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7"/>
          <p:cNvSpPr/>
          <p:nvPr/>
        </p:nvSpPr>
        <p:spPr>
          <a:xfrm>
            <a:off x="822960" y="3209400"/>
            <a:ext cx="10331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Once the OS did notice, TCP's own retransmission backoff took over: RTO doubles on each unacked retry (1s → 2s → 4s → 8s → …) until the tcp_retries2 limit is hit. The kernel — not the app — was the slow path, and it can legitimately take minutes to declare a peer dead.</a:t>
            </a:r>
            <a:endParaRPr lang="en-IN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8"/>
          <p:cNvSpPr/>
          <p:nvPr/>
        </p:nvSpPr>
        <p:spPr>
          <a:xfrm>
            <a:off x="548640" y="4123800"/>
            <a:ext cx="10879920" cy="1233000"/>
          </a:xfrm>
          <a:prstGeom prst="roundRect">
            <a:avLst>
              <a:gd name="adj" fmla="val 592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9"/>
          <p:cNvSpPr/>
          <p:nvPr/>
        </p:nvSpPr>
        <p:spPr>
          <a:xfrm>
            <a:off x="822960" y="4233600"/>
            <a:ext cx="103312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Q3 — Why was the FIN packet dropped at all?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0"/>
          <p:cNvSpPr/>
          <p:nvPr/>
        </p:nvSpPr>
        <p:spPr>
          <a:xfrm>
            <a:off x="822960" y="4563000"/>
            <a:ext cx="10331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Traced to a bug in the cloud provider's fully managed load balancer silently swallowing FIN segments on some connections. Contrast: a graceful FIN close lets buffered data flush and both apps learn the connection ended; an abrupt RST close discards pending data with no such signal.</a:t>
            </a:r>
            <a:endParaRPr lang="en-IN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1"/>
          <p:cNvSpPr/>
          <p:nvPr/>
        </p:nvSpPr>
        <p:spPr>
          <a:xfrm>
            <a:off x="548640" y="5523120"/>
            <a:ext cx="106970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Fix: forceful (RST-based) LB termination + decoupled the KeepAlive ping-timeout detector from the blocking publish path, so a stalled write can no longer starve failure detection.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0"/>
          <p:cNvSpPr/>
          <p:nvPr/>
        </p:nvSpPr>
        <p:spPr>
          <a:xfrm>
            <a:off x="548640" y="502920"/>
            <a:ext cx="639000" cy="6390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1" name="Image 0" descr="preencoded.png"/>
          <p:cNvPicPr/>
          <p:nvPr/>
        </p:nvPicPr>
        <p:blipFill>
          <a:blip r:embed="rId1"/>
          <a:stretch/>
        </p:blipFill>
        <p:spPr>
          <a:xfrm>
            <a:off x="714960" y="669240"/>
            <a:ext cx="306000" cy="30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Text 1"/>
          <p:cNvSpPr/>
          <p:nvPr/>
        </p:nvSpPr>
        <p:spPr>
          <a:xfrm>
            <a:off x="1371600" y="457200"/>
            <a:ext cx="100573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Tooling Spotlight — Wireshark for Packet-Level Debugging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1371600" y="960120"/>
            <a:ext cx="9600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The same technique used to crack the 900-Second Ghost case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3"/>
          <p:cNvSpPr/>
          <p:nvPr/>
        </p:nvSpPr>
        <p:spPr>
          <a:xfrm>
            <a:off x="548640" y="1508760"/>
            <a:ext cx="5119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Why Reach for Wireshark</a:t>
            </a:r>
            <a:endParaRPr lang="en-IN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4"/>
          <p:cNvSpPr/>
          <p:nvPr/>
        </p:nvSpPr>
        <p:spPr>
          <a:xfrm>
            <a:off x="548640" y="1920240"/>
            <a:ext cx="521100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>
              <a:lnSpc>
                <a:spcPct val="115000"/>
              </a:lnSpc>
              <a:spcAft>
                <a:spcPts val="799"/>
              </a:spcAft>
              <a:buClr>
                <a:srgbClr val="E5F3F1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App and infra metrics can look perfectly healthy while a connection is silently half-open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15000"/>
              </a:lnSpc>
              <a:spcAft>
                <a:spcPts val="799"/>
              </a:spcAft>
              <a:buClr>
                <a:srgbClr val="E5F3F1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Only a packet capture shows what actually crossed the wire — FIN/RST/ACK flags, retransmissions, timing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15000"/>
              </a:lnSpc>
              <a:spcAft>
                <a:spcPts val="799"/>
              </a:spcAft>
              <a:buClr>
                <a:srgbClr val="E5F3F1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Essential when the failure lives between two systems (client ↔ LB ↔ broker), not inside one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5"/>
          <p:cNvSpPr/>
          <p:nvPr/>
        </p:nvSpPr>
        <p:spPr>
          <a:xfrm>
            <a:off x="6035040" y="1508760"/>
            <a:ext cx="5576760" cy="2742120"/>
          </a:xfrm>
          <a:prstGeom prst="roundRect">
            <a:avLst>
              <a:gd name="adj" fmla="val 2667"/>
            </a:avLst>
          </a:prstGeom>
          <a:solidFill>
            <a:srgbClr val="0F3B47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6"/>
          <p:cNvSpPr/>
          <p:nvPr/>
        </p:nvSpPr>
        <p:spPr>
          <a:xfrm>
            <a:off x="6309360" y="1737360"/>
            <a:ext cx="456120" cy="4561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8" name="Image 1" descr="preencoded.png"/>
          <p:cNvPicPr/>
          <p:nvPr/>
        </p:nvPicPr>
        <p:blipFill>
          <a:blip r:embed="rId2"/>
          <a:stretch/>
        </p:blipFill>
        <p:spPr>
          <a:xfrm>
            <a:off x="6428160" y="185616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Text 7"/>
          <p:cNvSpPr/>
          <p:nvPr/>
        </p:nvSpPr>
        <p:spPr>
          <a:xfrm>
            <a:off x="6903720" y="1810440"/>
            <a:ext cx="4113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Typical Workflow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8"/>
          <p:cNvSpPr/>
          <p:nvPr/>
        </p:nvSpPr>
        <p:spPr>
          <a:xfrm>
            <a:off x="6309360" y="2286000"/>
            <a:ext cx="511956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BFE3E0"/>
                </a:solidFill>
                <a:effectLst/>
                <a:uFillTx/>
                <a:latin typeface="Courier New"/>
                <a:ea typeface="Courier New"/>
              </a:rPr>
              <a:t>1. Capture: tcpdump -i eth0 -w capture.pcap host &lt;peer&gt;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BFE3E0"/>
                </a:solidFill>
                <a:effectLst/>
                <a:uFillTx/>
                <a:latin typeface="Courier New"/>
                <a:ea typeface="Courier New"/>
              </a:rPr>
              <a:t>2. Open the .pcap in Wireshark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BFE3E0"/>
                </a:solidFill>
                <a:effectLst/>
                <a:uFillTx/>
                <a:latin typeface="Courier New"/>
                <a:ea typeface="Courier New"/>
              </a:rPr>
              <a:t>3. Filter: tcp.flags.fin==1 or tcp.analysis.retransmission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BFE3E0"/>
                </a:solidFill>
                <a:effectLst/>
                <a:uFillTx/>
                <a:latin typeface="Courier New"/>
                <a:ea typeface="Courier New"/>
              </a:rPr>
              <a:t>4. Right-click → Follow → TCP Stream for the full exchange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BFE3E0"/>
                </a:solidFill>
                <a:effectLst/>
                <a:uFillTx/>
                <a:latin typeface="Courier New"/>
                <a:ea typeface="Courier New"/>
              </a:rPr>
              <a:t>5. Correlate packet timestamps against app-level logs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9"/>
          <p:cNvSpPr/>
          <p:nvPr/>
        </p:nvSpPr>
        <p:spPr>
          <a:xfrm>
            <a:off x="548640" y="43434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Filters That Mattered in the Gojek Case</a:t>
            </a:r>
            <a:endParaRPr lang="en-IN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0"/>
          <p:cNvSpPr/>
          <p:nvPr/>
        </p:nvSpPr>
        <p:spPr>
          <a:xfrm>
            <a:off x="548640" y="4754880"/>
            <a:ext cx="2787840" cy="501840"/>
          </a:xfrm>
          <a:prstGeom prst="roundRect">
            <a:avLst>
              <a:gd name="adj" fmla="val 10909"/>
            </a:avLst>
          </a:prstGeom>
          <a:solidFill>
            <a:srgbClr val="028090">
              <a:alpha val="18000"/>
            </a:srgbClr>
          </a:solidFill>
          <a:ln w="9525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1"/>
          <p:cNvSpPr/>
          <p:nvPr/>
        </p:nvSpPr>
        <p:spPr>
          <a:xfrm>
            <a:off x="548640" y="4754880"/>
            <a:ext cx="2787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C39A"/>
                </a:solidFill>
                <a:effectLst/>
                <a:uFillTx/>
                <a:latin typeface="Courier New"/>
                <a:ea typeface="Courier New"/>
              </a:rPr>
              <a:t>tcp.flags.fin==1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2"/>
          <p:cNvSpPr/>
          <p:nvPr/>
        </p:nvSpPr>
        <p:spPr>
          <a:xfrm>
            <a:off x="3474720" y="4754880"/>
            <a:ext cx="81370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isolate the missing/late FIN segment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3"/>
          <p:cNvSpPr/>
          <p:nvPr/>
        </p:nvSpPr>
        <p:spPr>
          <a:xfrm>
            <a:off x="548640" y="5376600"/>
            <a:ext cx="2787840" cy="501840"/>
          </a:xfrm>
          <a:prstGeom prst="roundRect">
            <a:avLst>
              <a:gd name="adj" fmla="val 10909"/>
            </a:avLst>
          </a:prstGeom>
          <a:solidFill>
            <a:srgbClr val="028090">
              <a:alpha val="18000"/>
            </a:srgbClr>
          </a:solidFill>
          <a:ln w="9525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4"/>
          <p:cNvSpPr/>
          <p:nvPr/>
        </p:nvSpPr>
        <p:spPr>
          <a:xfrm>
            <a:off x="548640" y="5376600"/>
            <a:ext cx="2787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C39A"/>
                </a:solidFill>
                <a:effectLst/>
                <a:uFillTx/>
                <a:latin typeface="Courier New"/>
                <a:ea typeface="Courier New"/>
              </a:rPr>
              <a:t>tcp.analysis.retransmission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5"/>
          <p:cNvSpPr/>
          <p:nvPr/>
        </p:nvSpPr>
        <p:spPr>
          <a:xfrm>
            <a:off x="3474720" y="5376600"/>
            <a:ext cx="81370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confirm the RTO backoff pattern (1s→2s→4s→8s…)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6"/>
          <p:cNvSpPr/>
          <p:nvPr/>
        </p:nvSpPr>
        <p:spPr>
          <a:xfrm>
            <a:off x="548640" y="5998320"/>
            <a:ext cx="2787840" cy="501840"/>
          </a:xfrm>
          <a:prstGeom prst="roundRect">
            <a:avLst>
              <a:gd name="adj" fmla="val 10909"/>
            </a:avLst>
          </a:prstGeom>
          <a:solidFill>
            <a:srgbClr val="028090">
              <a:alpha val="18000"/>
            </a:srgbClr>
          </a:solidFill>
          <a:ln w="9525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7"/>
          <p:cNvSpPr/>
          <p:nvPr/>
        </p:nvSpPr>
        <p:spPr>
          <a:xfrm>
            <a:off x="548640" y="5998320"/>
            <a:ext cx="2787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C39A"/>
                </a:solidFill>
                <a:effectLst/>
                <a:uFillTx/>
                <a:latin typeface="Courier New"/>
                <a:ea typeface="Courier New"/>
              </a:rPr>
              <a:t>mqtt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8"/>
          <p:cNvSpPr/>
          <p:nvPr/>
        </p:nvSpPr>
        <p:spPr>
          <a:xfrm>
            <a:off x="3474720" y="5998320"/>
            <a:ext cx="81370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5F3F1"/>
                </a:solidFill>
                <a:effectLst/>
                <a:uFillTx/>
                <a:latin typeface="Calibri"/>
                <a:ea typeface="Calibri"/>
              </a:rPr>
              <a:t>decode the MQTT PINGREQ/PINGRESP exchange on top of TCP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0"/>
          <p:cNvSpPr/>
          <p:nvPr/>
        </p:nvSpPr>
        <p:spPr>
          <a:xfrm>
            <a:off x="548640" y="502920"/>
            <a:ext cx="638640" cy="6386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2" name="Image 0" descr="preencoded.png"/>
          <p:cNvPicPr/>
          <p:nvPr/>
        </p:nvPicPr>
        <p:blipFill>
          <a:blip r:embed="rId1"/>
          <a:stretch/>
        </p:blipFill>
        <p:spPr>
          <a:xfrm>
            <a:off x="721440" y="675720"/>
            <a:ext cx="293040" cy="2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Text 1"/>
          <p:cNvSpPr/>
          <p:nvPr/>
        </p:nvSpPr>
        <p:spPr>
          <a:xfrm>
            <a:off x="1371600" y="502920"/>
            <a:ext cx="98740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What This Means for Our Day-to-Day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"/>
          <p:cNvSpPr/>
          <p:nvPr/>
        </p:nvSpPr>
        <p:spPr>
          <a:xfrm>
            <a:off x="1371600" y="960120"/>
            <a:ext cx="987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Connecting KubeCon trends back to VoIP, Kubernetes, and monitoring work we do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3"/>
          <p:cNvSpPr/>
          <p:nvPr/>
        </p:nvSpPr>
        <p:spPr>
          <a:xfrm>
            <a:off x="548640" y="1554480"/>
            <a:ext cx="10879920" cy="986040"/>
          </a:xfrm>
          <a:prstGeom prst="roundRect">
            <a:avLst>
              <a:gd name="adj" fmla="val 6481"/>
            </a:avLst>
          </a:prstGeom>
          <a:solidFill>
            <a:srgbClr val="F0F9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4"/>
          <p:cNvSpPr/>
          <p:nvPr/>
        </p:nvSpPr>
        <p:spPr>
          <a:xfrm>
            <a:off x="822960" y="1554480"/>
            <a:ext cx="237600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Observability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7" name="Image 1" descr="preencoded.png"/>
          <p:cNvPicPr/>
          <p:nvPr/>
        </p:nvPicPr>
        <p:blipFill>
          <a:blip r:embed="rId2"/>
          <a:stretch/>
        </p:blipFill>
        <p:spPr>
          <a:xfrm>
            <a:off x="3246120" y="1911240"/>
            <a:ext cx="272880" cy="27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5"/>
          <p:cNvSpPr/>
          <p:nvPr/>
        </p:nvSpPr>
        <p:spPr>
          <a:xfrm>
            <a:off x="3703320" y="1554480"/>
            <a:ext cx="754236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Air-gapped OTel Collector + LGTM patterns map directly to isolated customer environments — and reinforce protocol-level Zabbix/SIP trunk monitoring over uptime-only checks.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6"/>
          <p:cNvSpPr/>
          <p:nvPr/>
        </p:nvSpPr>
        <p:spPr>
          <a:xfrm>
            <a:off x="548640" y="2670120"/>
            <a:ext cx="10879920" cy="986040"/>
          </a:xfrm>
          <a:prstGeom prst="roundRect">
            <a:avLst>
              <a:gd name="adj" fmla="val 6481"/>
            </a:avLst>
          </a:prstGeom>
          <a:solidFill>
            <a:srgbClr val="F0F9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7"/>
          <p:cNvSpPr/>
          <p:nvPr/>
        </p:nvSpPr>
        <p:spPr>
          <a:xfrm>
            <a:off x="822960" y="2670120"/>
            <a:ext cx="237600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Security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Image 2" descr="preencoded.png"/>
          <p:cNvPicPr/>
          <p:nvPr/>
        </p:nvPicPr>
        <p:blipFill>
          <a:blip r:embed="rId3"/>
          <a:stretch/>
        </p:blipFill>
        <p:spPr>
          <a:xfrm>
            <a:off x="3246120" y="3026520"/>
            <a:ext cx="272880" cy="27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Text 8"/>
          <p:cNvSpPr/>
          <p:nvPr/>
        </p:nvSpPr>
        <p:spPr>
          <a:xfrm>
            <a:off x="3703320" y="2670120"/>
            <a:ext cx="754236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SPIFFE-based workload identity and in-toto attestation are logical next steps as we mature our AWS EKS IRSA and secrets-management posture.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9"/>
          <p:cNvSpPr/>
          <p:nvPr/>
        </p:nvSpPr>
        <p:spPr>
          <a:xfrm>
            <a:off x="548640" y="3785760"/>
            <a:ext cx="10879920" cy="986040"/>
          </a:xfrm>
          <a:prstGeom prst="roundRect">
            <a:avLst>
              <a:gd name="adj" fmla="val 6481"/>
            </a:avLst>
          </a:prstGeom>
          <a:solidFill>
            <a:srgbClr val="F0F9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0"/>
          <p:cNvSpPr/>
          <p:nvPr/>
        </p:nvSpPr>
        <p:spPr>
          <a:xfrm>
            <a:off x="822960" y="3785760"/>
            <a:ext cx="237600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Platform Engineering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5" name="Image 3" descr="preencoded.png"/>
          <p:cNvPicPr/>
          <p:nvPr/>
        </p:nvPicPr>
        <p:blipFill>
          <a:blip r:embed="rId4"/>
          <a:stretch/>
        </p:blipFill>
        <p:spPr>
          <a:xfrm>
            <a:off x="3246120" y="4142160"/>
            <a:ext cx="272880" cy="27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Text 11"/>
          <p:cNvSpPr/>
          <p:nvPr/>
        </p:nvSpPr>
        <p:spPr>
          <a:xfrm>
            <a:off x="3703320" y="3785760"/>
            <a:ext cx="754236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CUE-based application definitions (KubeVela-style) are worth evaluating to reduce raw Helm/manifest sprawl across multi-tenant clusters.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2"/>
          <p:cNvSpPr/>
          <p:nvPr/>
        </p:nvSpPr>
        <p:spPr>
          <a:xfrm>
            <a:off x="548640" y="4901040"/>
            <a:ext cx="10879920" cy="986040"/>
          </a:xfrm>
          <a:prstGeom prst="roundRect">
            <a:avLst>
              <a:gd name="adj" fmla="val 6481"/>
            </a:avLst>
          </a:prstGeom>
          <a:solidFill>
            <a:srgbClr val="F0F9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3"/>
          <p:cNvSpPr/>
          <p:nvPr/>
        </p:nvSpPr>
        <p:spPr>
          <a:xfrm>
            <a:off x="822960" y="4901040"/>
            <a:ext cx="237600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28090"/>
                </a:solidFill>
                <a:effectLst/>
                <a:uFillTx/>
                <a:latin typeface="Arial"/>
                <a:ea typeface="Arial"/>
              </a:rPr>
              <a:t>AI on Kubernetes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9" name="Image 4" descr="preencoded.png"/>
          <p:cNvPicPr/>
          <p:nvPr/>
        </p:nvPicPr>
        <p:blipFill>
          <a:blip r:embed="rId5"/>
          <a:stretch/>
        </p:blipFill>
        <p:spPr>
          <a:xfrm>
            <a:off x="3246120" y="5257800"/>
            <a:ext cx="272880" cy="27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Text 14"/>
          <p:cNvSpPr/>
          <p:nvPr/>
        </p:nvSpPr>
        <p:spPr>
          <a:xfrm>
            <a:off x="3703320" y="4901040"/>
            <a:ext cx="754236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Multi-cluster GPU queueing and semantic-routing patterns preview the infra skills we'll need next, even outside pure ML teams.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xt 0"/>
          <p:cNvSpPr/>
          <p:nvPr/>
        </p:nvSpPr>
        <p:spPr>
          <a:xfrm>
            <a:off x="548640" y="457200"/>
            <a:ext cx="10056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242A"/>
                </a:solidFill>
                <a:effectLst/>
                <a:uFillTx/>
                <a:latin typeface="Cambria"/>
                <a:ea typeface="Cambria"/>
              </a:rPr>
              <a:t>Get All the Session Slides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"/>
          <p:cNvSpPr/>
          <p:nvPr/>
        </p:nvSpPr>
        <p:spPr>
          <a:xfrm>
            <a:off x="548640" y="1005840"/>
            <a:ext cx="10056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5B7A80"/>
                </a:solidFill>
                <a:effectLst/>
                <a:uFillTx/>
                <a:latin typeface="Calibri"/>
                <a:ea typeface="Calibri"/>
              </a:rPr>
              <a:t>Every deck referenced in this talk, archived in one place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2"/>
          <p:cNvSpPr/>
          <p:nvPr/>
        </p:nvSpPr>
        <p:spPr>
          <a:xfrm>
            <a:off x="548640" y="1691640"/>
            <a:ext cx="10879920" cy="1415880"/>
          </a:xfrm>
          <a:prstGeom prst="roundRect">
            <a:avLst>
              <a:gd name="adj" fmla="val 6452"/>
            </a:avLst>
          </a:prstGeom>
          <a:solidFill>
            <a:srgbClr val="0B2B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3"/>
          <p:cNvSpPr/>
          <p:nvPr/>
        </p:nvSpPr>
        <p:spPr>
          <a:xfrm>
            <a:off x="914400" y="1938600"/>
            <a:ext cx="912960" cy="9129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5" name="Image 0" descr="preencoded.png"/>
          <p:cNvPicPr/>
          <p:nvPr/>
        </p:nvPicPr>
        <p:blipFill>
          <a:blip r:embed="rId1"/>
          <a:stretch/>
        </p:blipFill>
        <p:spPr>
          <a:xfrm>
            <a:off x="1161360" y="218556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Text 4"/>
          <p:cNvSpPr/>
          <p:nvPr/>
        </p:nvSpPr>
        <p:spPr>
          <a:xfrm>
            <a:off x="2057400" y="1874520"/>
            <a:ext cx="77709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KubeCon India 2026 — Session Archive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5"/>
          <p:cNvSpPr/>
          <p:nvPr/>
        </p:nvSpPr>
        <p:spPr>
          <a:xfrm>
            <a:off x="2057400" y="2331720"/>
            <a:ext cx="7770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github.com/janiparas/kubekon26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6"/>
          <p:cNvSpPr/>
          <p:nvPr/>
        </p:nvSpPr>
        <p:spPr>
          <a:xfrm>
            <a:off x="2057400" y="2697480"/>
            <a:ext cx="7770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All 59 session decks and lightning talks from the event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7"/>
          <p:cNvSpPr/>
          <p:nvPr/>
        </p:nvSpPr>
        <p:spPr>
          <a:xfrm>
            <a:off x="548640" y="3291840"/>
            <a:ext cx="10879920" cy="1415880"/>
          </a:xfrm>
          <a:prstGeom prst="roundRect">
            <a:avLst>
              <a:gd name="adj" fmla="val 6452"/>
            </a:avLst>
          </a:prstGeom>
          <a:solidFill>
            <a:srgbClr val="0B2B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8"/>
          <p:cNvSpPr/>
          <p:nvPr/>
        </p:nvSpPr>
        <p:spPr>
          <a:xfrm>
            <a:off x="914400" y="3538800"/>
            <a:ext cx="912960" cy="9129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1" name="Image 1" descr="preencoded.png"/>
          <p:cNvPicPr/>
          <p:nvPr/>
        </p:nvPicPr>
        <p:blipFill>
          <a:blip r:embed="rId2"/>
          <a:stretch/>
        </p:blipFill>
        <p:spPr>
          <a:xfrm>
            <a:off x="1161360" y="3785760"/>
            <a:ext cx="419040" cy="4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Text 9"/>
          <p:cNvSpPr/>
          <p:nvPr/>
        </p:nvSpPr>
        <p:spPr>
          <a:xfrm>
            <a:off x="2057400" y="3474720"/>
            <a:ext cx="77709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KubeCon + CloudNativeCon Recordings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0"/>
          <p:cNvSpPr/>
          <p:nvPr/>
        </p:nvSpPr>
        <p:spPr>
          <a:xfrm>
            <a:off x="2057400" y="3931920"/>
            <a:ext cx="8228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youtube.com/playlist?list=PLj6h78yzYM2PmaTdAzefPqjawTlop1lgG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1"/>
          <p:cNvSpPr/>
          <p:nvPr/>
        </p:nvSpPr>
        <p:spPr>
          <a:xfrm>
            <a:off x="2057400" y="4297680"/>
            <a:ext cx="7770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BFE3E0"/>
                </a:solidFill>
                <a:effectLst/>
                <a:uFillTx/>
                <a:latin typeface="Calibri"/>
                <a:ea typeface="Calibri"/>
              </a:rPr>
              <a:t>Full session recordings, published by CNCF — well worth a watch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0"/>
          <p:cNvSpPr/>
          <p:nvPr/>
        </p:nvSpPr>
        <p:spPr>
          <a:xfrm>
            <a:off x="-1371600" y="-1371600"/>
            <a:ext cx="4113360" cy="4113360"/>
          </a:xfrm>
          <a:prstGeom prst="ellipse">
            <a:avLst/>
          </a:prstGeom>
          <a:solidFill>
            <a:srgbClr val="02809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"/>
          <p:cNvSpPr/>
          <p:nvPr/>
        </p:nvSpPr>
        <p:spPr>
          <a:xfrm>
            <a:off x="10058400" y="4389120"/>
            <a:ext cx="3656160" cy="3656160"/>
          </a:xfrm>
          <a:prstGeom prst="ellipse">
            <a:avLst/>
          </a:prstGeom>
          <a:solidFill>
            <a:srgbClr val="02C39A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2"/>
          <p:cNvSpPr/>
          <p:nvPr/>
        </p:nvSpPr>
        <p:spPr>
          <a:xfrm>
            <a:off x="822960" y="685800"/>
            <a:ext cx="73137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lang="en-IN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3"/>
          <p:cNvSpPr/>
          <p:nvPr/>
        </p:nvSpPr>
        <p:spPr>
          <a:xfrm>
            <a:off x="822960" y="1463040"/>
            <a:ext cx="5484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2C39A"/>
                </a:solidFill>
                <a:effectLst/>
                <a:uFillTx/>
                <a:latin typeface="Arial"/>
                <a:ea typeface="Arial"/>
              </a:rPr>
              <a:t>Questions &amp; Discussion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4"/>
          <p:cNvSpPr/>
          <p:nvPr/>
        </p:nvSpPr>
        <p:spPr>
          <a:xfrm>
            <a:off x="822960" y="2148840"/>
            <a:ext cx="547200" cy="5472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0" name="Image 0" descr="preencoded.png"/>
          <p:cNvPicPr/>
          <p:nvPr/>
        </p:nvPicPr>
        <p:blipFill>
          <a:blip r:embed="rId1"/>
          <a:stretch/>
        </p:blipFill>
        <p:spPr>
          <a:xfrm>
            <a:off x="970920" y="2296800"/>
            <a:ext cx="25092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Text 5"/>
          <p:cNvSpPr/>
          <p:nvPr/>
        </p:nvSpPr>
        <p:spPr>
          <a:xfrm>
            <a:off x="1554480" y="2194560"/>
            <a:ext cx="54849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Paras Jani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DevOps Tech Lead, Ecosmob Technologies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6"/>
          <p:cNvSpPr/>
          <p:nvPr/>
        </p:nvSpPr>
        <p:spPr>
          <a:xfrm>
            <a:off x="822960" y="3017520"/>
            <a:ext cx="455760" cy="4557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3" name="Image 1" descr="preencoded.png"/>
          <p:cNvPicPr/>
          <p:nvPr/>
        </p:nvPicPr>
        <p:blipFill>
          <a:blip r:embed="rId2"/>
          <a:stretch/>
        </p:blipFill>
        <p:spPr>
          <a:xfrm>
            <a:off x="946440" y="3141000"/>
            <a:ext cx="208800" cy="2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4" name="Text 7"/>
          <p:cNvSpPr/>
          <p:nvPr/>
        </p:nvSpPr>
        <p:spPr>
          <a:xfrm>
            <a:off x="1417320" y="3035880"/>
            <a:ext cx="530208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github.com/janiparas/kubekon26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8"/>
          <p:cNvSpPr/>
          <p:nvPr/>
        </p:nvSpPr>
        <p:spPr>
          <a:xfrm>
            <a:off x="822960" y="3611880"/>
            <a:ext cx="455760" cy="4557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6" name="Image 2" descr="preencoded.png"/>
          <p:cNvPicPr/>
          <p:nvPr/>
        </p:nvPicPr>
        <p:blipFill>
          <a:blip r:embed="rId3"/>
          <a:stretch/>
        </p:blipFill>
        <p:spPr>
          <a:xfrm>
            <a:off x="946440" y="3735360"/>
            <a:ext cx="208800" cy="2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Text 9"/>
          <p:cNvSpPr/>
          <p:nvPr/>
        </p:nvSpPr>
        <p:spPr>
          <a:xfrm>
            <a:off x="1417320" y="3630240"/>
            <a:ext cx="530208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linkedin.com/in/paras-jani-35ab0031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10"/>
          <p:cNvSpPr/>
          <p:nvPr/>
        </p:nvSpPr>
        <p:spPr>
          <a:xfrm>
            <a:off x="822960" y="4206240"/>
            <a:ext cx="455760" cy="4557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9" name="Image 3" descr="preencoded.png"/>
          <p:cNvPicPr/>
          <p:nvPr/>
        </p:nvPicPr>
        <p:blipFill>
          <a:blip r:embed="rId4"/>
          <a:stretch/>
        </p:blipFill>
        <p:spPr>
          <a:xfrm>
            <a:off x="946440" y="4329720"/>
            <a:ext cx="208800" cy="2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0" name="Text 11"/>
          <p:cNvSpPr/>
          <p:nvPr/>
        </p:nvSpPr>
        <p:spPr>
          <a:xfrm>
            <a:off x="1417320" y="4224600"/>
            <a:ext cx="548496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Full playlist: KubeCon India 2026 recordings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2"/>
          <p:cNvSpPr/>
          <p:nvPr/>
        </p:nvSpPr>
        <p:spPr>
          <a:xfrm>
            <a:off x="7223760" y="3063240"/>
            <a:ext cx="2421720" cy="28789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2" name="Image 4" descr="preencoded.png"/>
          <p:cNvPicPr/>
          <p:nvPr/>
        </p:nvPicPr>
        <p:blipFill>
          <a:blip r:embed="rId5"/>
          <a:stretch/>
        </p:blipFill>
        <p:spPr>
          <a:xfrm>
            <a:off x="7429680" y="3246120"/>
            <a:ext cx="2010240" cy="201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Text 13"/>
          <p:cNvSpPr/>
          <p:nvPr/>
        </p:nvSpPr>
        <p:spPr>
          <a:xfrm>
            <a:off x="7223760" y="5349240"/>
            <a:ext cx="2421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Scan for session slides (GitHub)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4"/>
          <p:cNvSpPr/>
          <p:nvPr/>
        </p:nvSpPr>
        <p:spPr>
          <a:xfrm>
            <a:off x="9875520" y="3063240"/>
            <a:ext cx="2421720" cy="28789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5" name="Image 5" descr="preencoded.png"/>
          <p:cNvPicPr/>
          <p:nvPr/>
        </p:nvPicPr>
        <p:blipFill>
          <a:blip r:embed="rId6"/>
          <a:stretch/>
        </p:blipFill>
        <p:spPr>
          <a:xfrm>
            <a:off x="10081440" y="3246120"/>
            <a:ext cx="2010240" cy="201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Text 15"/>
          <p:cNvSpPr/>
          <p:nvPr/>
        </p:nvSpPr>
        <p:spPr>
          <a:xfrm>
            <a:off x="9875520" y="5349240"/>
            <a:ext cx="2421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242A"/>
                </a:solidFill>
                <a:effectLst/>
                <a:uFillTx/>
                <a:latin typeface="Calibri"/>
                <a:ea typeface="Calibri"/>
              </a:rPr>
              <a:t>Scan to connect on LinkedIn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2026-07-03T07:08:49Z</dcterms:created>
  <dc:creator>Paras Jani</dc:creator>
  <dc:description/>
  <dc:language>en-IN</dc:language>
  <cp:lastModifiedBy/>
  <dcterms:modified xsi:type="dcterms:W3CDTF">2026-07-08T11:29:00Z</dcterms:modified>
  <cp:revision>5</cp:revision>
  <dc:subject>PptxGenJS Presentation</dc:subject>
  <dc:title>KubeCon + CloudNativeCon India 2026 - My Experience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